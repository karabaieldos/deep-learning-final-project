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100" b="0" i="0" u="none" strike="noStrike">
                <a:solidFill>
                  <a:srgbClr val="94A3B8"/>
                </a:solidFill>
                <a:latin typeface="Arial"/>
              </a:defRPr>
            </a:pPr>
            <a:r>
              <a:rPr sz="1100" b="0" i="0" u="none" strike="noStrike">
                <a:solidFill>
                  <a:srgbClr val="94A3B8"/>
                </a:solidFill>
                <a:latin typeface="Arial"/>
              </a:rPr>
              <a:t>Class Distribution (%)</a:t>
            </a:r>
          </a:p>
        </c:rich>
      </c:tx>
      <c:layout/>
      <c:overlay val="0"/>
    </c:title>
    <c:autoTitleDeleted val="0"/>
    <c:plotArea>
      <c:layout/>
      <c:barChart>
        <c:barDir val="col"/>
        <c:grouping val="clustered"/>
        <c:varyColors val="0"/>
        <c:ser>
          <c:idx val="0"/>
          <c:order val="0"/>
          <c:tx>
            <c:strRef>
              <c:f>Sheet1!$B$1</c:f>
              <c:strCache>
                <c:ptCount val="1"/>
                <c:pt idx="0">
                  <c:v>% of data</c:v>
                </c:pt>
              </c:strCache>
            </c:strRef>
          </c:tx>
          <c:spPr>
            <a:solidFill>
              <a:srgbClr val="0D9488"/>
            </a:solidFill>
            <a:effectLst/>
          </c:spPr>
          <c:invertIfNegative val="0"/>
          <c:dLbls>
            <c:numFmt formatCode="#,##0" sourceLinked="0"/>
            <c:txPr>
              <a:bodyPr/>
              <a:lstStyle/>
              <a:p>
                <a:pPr>
                  <a:defRPr b="0" i="0" strike="noStrike" sz="900" u="none">
                    <a:solidFill>
                      <a:srgbClr val="F8FAFC"/>
                    </a:solidFill>
                    <a:latin typeface="Arial"/>
                  </a:defRPr>
                </a:pPr>
              </a:p>
            </c:txPr>
            <c:showLegendKey val="0"/>
            <c:showVal val="1"/>
            <c:showCatName val="0"/>
            <c:showSerName val="0"/>
            <c:showPercent val="0"/>
            <c:showBubbleSize val="0"/>
            <c:showLeaderLines val="0"/>
          </c:dLbls>
          <c:dPt>
            <c:idx val="0"/>
            <c:invertIfNegative val="0"/>
            <c:bubble3D val="0"/>
            <c:spPr>
              <a:solidFill>
                <a:srgbClr val="0D9488"/>
              </a:solidFill>
              <a:effectLst/>
            </c:spPr>
          </c:dPt>
          <c:dPt>
            <c:idx val="1"/>
            <c:invertIfNegative val="0"/>
            <c:bubble3D val="0"/>
            <c:spPr>
              <a:solidFill>
                <a:srgbClr val="F43F5E"/>
              </a:solidFill>
              <a:effectLst/>
            </c:spPr>
          </c:dPt>
          <c:dPt>
            <c:idx val="2"/>
            <c:invertIfNegative val="0"/>
            <c:bubble3D val="0"/>
            <c:spPr>
              <a:solidFill>
                <a:srgbClr val="F59E0B"/>
              </a:solidFill>
              <a:effectLst/>
            </c:spPr>
          </c:dPt>
          <c:dPt>
            <c:idx val="3"/>
            <c:invertIfNegative val="0"/>
            <c:bubble3D val="0"/>
            <c:spPr>
              <a:solidFill>
                <a:srgbClr val="F43F5E"/>
              </a:solidFill>
              <a:effectLst/>
            </c:spPr>
          </c:dPt>
          <c:dPt>
            <c:idx val="4"/>
            <c:invertIfNegative val="0"/>
            <c:bubble3D val="0"/>
            <c:spPr>
              <a:solidFill>
                <a:srgbClr val="F59E0B"/>
              </a:solidFill>
              <a:effectLst/>
            </c:spPr>
          </c:dPt>
          <c:dPt>
            <c:idx val="5"/>
            <c:invertIfNegative val="0"/>
            <c:bubble3D val="0"/>
            <c:spPr>
              <a:solidFill>
                <a:srgbClr val="F43F5E"/>
              </a:solidFill>
              <a:effectLst/>
            </c:spPr>
          </c:dPt>
          <c:cat>
            <c:multiLvlStrRef>
              <c:f>Sheet1!$A$2:$A$7</c:f>
              <c:multiLvlStrCache>
                <c:ptCount val="6"/>
                <c:lvl>
                  <c:pt idx="0">
                    <c:v>toxic</c:v>
                  </c:pt>
                  <c:pt idx="1">
                    <c:v>severe_toxic</c:v>
                  </c:pt>
                  <c:pt idx="2">
                    <c:v>obscene</c:v>
                  </c:pt>
                  <c:pt idx="3">
                    <c:v>threat</c:v>
                  </c:pt>
                  <c:pt idx="4">
                    <c:v>insult</c:v>
                  </c:pt>
                  <c:pt idx="5">
                    <c:v>identity_hate</c:v>
                  </c:pt>
                </c:lvl>
              </c:multiLvlStrCache>
            </c:multiLvlStrRef>
          </c:cat>
          <c:val>
            <c:numRef>
              <c:f>Sheet1!$B$2:$B$7</c:f>
              <c:numCache>
                <c:formatCode>General</c:formatCode>
                <c:ptCount val="6"/>
                <c:pt idx="0">
                  <c:v>9.58</c:v>
                </c:pt>
                <c:pt idx="1">
                  <c:v>1</c:v>
                </c:pt>
                <c:pt idx="2">
                  <c:v>5.29</c:v>
                </c:pt>
                <c:pt idx="3">
                  <c:v>0.3</c:v>
                </c:pt>
                <c:pt idx="4">
                  <c:v>4.94</c:v>
                </c:pt>
                <c:pt idx="5">
                  <c:v>0.88</c:v>
                </c:pt>
              </c:numCache>
            </c:numRef>
          </c:val>
        </c:ser>
        <c:dLbls>
          <c:numFmt formatCode="#,##0" sourceLinked="0"/>
          <c:txPr>
            <a:bodyPr/>
            <a:lstStyle/>
            <a:p>
              <a:pPr>
                <a:defRPr b="0" i="0" strike="noStrike" sz="900" u="none">
                  <a:solidFill>
                    <a:srgbClr val="F8FAF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E293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1E293B"/>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Introduction (~45 sec)
Good morning/afternoon! Today I'm presenting my final project for Applied Deep Learning: automatic multi-label classification of toxic online comments using deep learning.
Why does this matter? Every day, platforms like YouTube, Reddit, and Twitter receive millions of comments. Some of them contain insults, threats, or hate speech. Manual moderation at this scale is simply impossible — we need an automated solution. That's exactly what this project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Data (~60 sec)
The dataset is the Jigsaw Toxic Comment Classification Challenge from Kaggle. It contains ~159,000 Wikipedia comments labeled across 6 classes: toxic, severe_toxic, obscene, threat, insult, and identity_hate.
The core challenge here is severe class imbalance. Look at the bar chart: roughly 90% of all comments are completely clean. The 'threat' class represents less than 0.3% of the data. This means a naive model that always predicts 'clean' would get 90% accuracy — but be completely useless.
That's exactly why I chose Macro ROC-AUC as my evaluation metric. It gives equal weight to every class regardless of frequency, making it the right tool for imbalanced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Baseline (~60 sec)
Before building a deep learning model, I established a classical ML baseline. The pipeline has three stages: text preprocessing, TF-IDF vectorization, and logistic regression.
Pre-processing: lowercase, remove punctuation and special characters with regex, then tokenize.
TF-IDF builds a vocabulary of 10,000 tokens and converts each comment to a sparse vector. I use OneVsRestClassifier which trains 6 independent binary classifiers — one per class.
The result? Macro ROC-AUC around 0.92 — actually quite strong for a baseline. But the key weakness is that TF-IDF treats text as a bag of words — there's no word order, no context, no understanding of sarcasm. That's exactly what the deep learning model tries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Architecture (~75 sec)
Now the core of the project — the deep learning model, built from scratch in PyTorch.
The architecture is a Bidirectional LSTM. Let me walk through each layer:
1. Input: each comment is tokenized and padded/truncated to 100 tokens.
2. Embedding Layer: maps each token to a 128-dimensional dense vector. Vocabulary size is 15,000 — larger than the TF-IDF baseline to capture more rare toxic terms.
3. Bidirectional LSTM with hidden size 64. 'Bidirectional' means the model reads the sentence both left-to-right AND right-to-left simultaneously — giving it full context from both directions.
4. Linear layer that projects to 6 outputs — one per class.
5. Loss function: BCEWithLogitsLoss — binary cross-entropy with a built-in sigmoid. This allows each class to be predicted independently, which is critical for multi-label.
Optimizer: Adam with adaptive learning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Results (~75 sec)
Let's look at the numbers. The baseline (TF-IDF + LogReg) achieved Macro ROC-AUC of 0.917. The BiLSTM improved this to 0.938 — a meaningful gain of +0.021.
More interesting is the qualitative error analysis:
SUCCESSES — The model is very good at catching direct insults and profanity. It also correctly assigns multiple labels simultaneously — for example, a comment can be classified as both toxic AND insult at the same time. This is exactly the multi-label behavior we want.
FAILURES — The model struggles with sarcasm. For example, the phrase 'Oh great idea, Einstein' — the words are positive, so the model predicts it as clean. A human immediately understands the sarcastic tone. The model also underperforms on the 'threat' class simply because there are so few training examples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Conclusions (~60 sec)
To summarize the key findings:
1. The BiLSTM model outperforms the classical baseline by +0.021 Macro ROC-AUC — demonstrating that deep learning adds real value here.
2. The multi-label approach works: the model correctly assigns multiple toxicity labels at once.
3. Macro ROC-AUC proved to be the right choice for this imbalanced problem.
4. The clear limitation is sarcasm and implicit context — the model needs world knowledge to catch these.
For future work, the most impactful next step would be fine-tuning a pre-trained transformer like DistilBERT or RoBERTa. These models are pre-trained on billions of text tokens and understand context, irony, and nuance far better than a from-scratch LSTM. I'd also address the class imbalance more aggressively using Focal Loss.
Thank you —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sp>
      <p:sp>
        <p:nvSpPr>
          <p:cNvPr id="3" name="Text 1"/>
          <p:cNvSpPr/>
          <p:nvPr/>
        </p:nvSpPr>
        <p:spPr>
          <a:xfrm>
            <a:off x="274320" y="256032"/>
            <a:ext cx="8595360" cy="320040"/>
          </a:xfrm>
          <a:prstGeom prst="rect">
            <a:avLst/>
          </a:prstGeom>
          <a:noFill/>
          <a:ln/>
        </p:spPr>
        <p:txBody>
          <a:bodyPr wrap="square" lIns="0" tIns="0" rIns="0" bIns="0" rtlCol="0" anchor="ctr"/>
          <a:lstStyle/>
          <a:p>
            <a:pPr indent="0" marL="0">
              <a:buNone/>
            </a:pPr>
            <a:r>
              <a:rPr lang="en-US" sz="900" b="1" spc="300" kern="0" dirty="0">
                <a:solidFill>
                  <a:srgbClr val="14B8A6"/>
                </a:solidFill>
              </a:rPr>
              <a:t>FINAL PROJECT  •  APPLIED DEEP LEARNING</a:t>
            </a:r>
            <a:endParaRPr lang="en-US" sz="900" dirty="0"/>
          </a:p>
        </p:txBody>
      </p:sp>
      <p:sp>
        <p:nvSpPr>
          <p:cNvPr id="4" name="Text 2"/>
          <p:cNvSpPr/>
          <p:nvPr/>
        </p:nvSpPr>
        <p:spPr>
          <a:xfrm>
            <a:off x="274320" y="749808"/>
            <a:ext cx="7315200" cy="658368"/>
          </a:xfrm>
          <a:prstGeom prst="rect">
            <a:avLst/>
          </a:prstGeom>
          <a:noFill/>
          <a:ln/>
        </p:spPr>
        <p:txBody>
          <a:bodyPr wrap="square" lIns="0" tIns="0" rIns="0" bIns="0" rtlCol="0" anchor="ctr"/>
          <a:lstStyle/>
          <a:p>
            <a:pPr indent="0" marL="0">
              <a:buNone/>
            </a:pPr>
            <a:r>
              <a:rPr lang="en-US" sz="3800" b="1" dirty="0">
                <a:solidFill>
                  <a:srgbClr val="F8FAFC"/>
                </a:solidFill>
              </a:rPr>
              <a:t>Deep Learning for</a:t>
            </a:r>
            <a:endParaRPr lang="en-US" sz="3800" dirty="0"/>
          </a:p>
        </p:txBody>
      </p:sp>
      <p:sp>
        <p:nvSpPr>
          <p:cNvPr id="5" name="Text 3"/>
          <p:cNvSpPr/>
          <p:nvPr/>
        </p:nvSpPr>
        <p:spPr>
          <a:xfrm>
            <a:off x="274320" y="1371600"/>
            <a:ext cx="8229600" cy="658368"/>
          </a:xfrm>
          <a:prstGeom prst="rect">
            <a:avLst/>
          </a:prstGeom>
          <a:noFill/>
          <a:ln/>
        </p:spPr>
        <p:txBody>
          <a:bodyPr wrap="square" lIns="0" tIns="0" rIns="0" bIns="0" rtlCol="0" anchor="ctr"/>
          <a:lstStyle/>
          <a:p>
            <a:pPr indent="0" marL="0">
              <a:buNone/>
            </a:pPr>
            <a:r>
              <a:rPr lang="en-US" sz="3800" b="1" dirty="0">
                <a:solidFill>
                  <a:srgbClr val="5EEAD4"/>
                </a:solidFill>
              </a:rPr>
              <a:t>Multi-Label Toxic Comment</a:t>
            </a:r>
            <a:endParaRPr lang="en-US" sz="3800" dirty="0"/>
          </a:p>
        </p:txBody>
      </p:sp>
      <p:sp>
        <p:nvSpPr>
          <p:cNvPr id="6" name="Text 4"/>
          <p:cNvSpPr/>
          <p:nvPr/>
        </p:nvSpPr>
        <p:spPr>
          <a:xfrm>
            <a:off x="274320" y="1993392"/>
            <a:ext cx="5486400" cy="658368"/>
          </a:xfrm>
          <a:prstGeom prst="rect">
            <a:avLst/>
          </a:prstGeom>
          <a:noFill/>
          <a:ln/>
        </p:spPr>
        <p:txBody>
          <a:bodyPr wrap="square" lIns="0" tIns="0" rIns="0" bIns="0" rtlCol="0" anchor="ctr"/>
          <a:lstStyle/>
          <a:p>
            <a:pPr indent="0" marL="0">
              <a:buNone/>
            </a:pPr>
            <a:r>
              <a:rPr lang="en-US" sz="3800" b="1" dirty="0">
                <a:solidFill>
                  <a:srgbClr val="F8FAFC"/>
                </a:solidFill>
              </a:rPr>
              <a:t>Classification</a:t>
            </a:r>
            <a:endParaRPr lang="en-US" sz="3800" dirty="0"/>
          </a:p>
        </p:txBody>
      </p:sp>
      <p:pic>
        <p:nvPicPr>
          <p:cNvPr id="7" name="Image 0" descr="preencoded.png">    </p:cNvPr>
          <p:cNvPicPr>
            <a:picLocks noChangeAspect="1"/>
          </p:cNvPicPr>
          <p:nvPr/>
        </p:nvPicPr>
        <p:blipFill>
          <a:blip r:embed="rId1"/>
          <a:stretch>
            <a:fillRect/>
          </a:stretch>
        </p:blipFill>
        <p:spPr>
          <a:xfrm>
            <a:off x="7223760" y="1005840"/>
            <a:ext cx="1554480" cy="1554480"/>
          </a:xfrm>
          <a:prstGeom prst="rect">
            <a:avLst/>
          </a:prstGeom>
        </p:spPr>
      </p:pic>
      <p:sp>
        <p:nvSpPr>
          <p:cNvPr id="8" name="Shape 5"/>
          <p:cNvSpPr/>
          <p:nvPr/>
        </p:nvSpPr>
        <p:spPr>
          <a:xfrm>
            <a:off x="274320" y="2852928"/>
            <a:ext cx="3200400" cy="45720"/>
          </a:xfrm>
          <a:prstGeom prst="rect">
            <a:avLst/>
          </a:prstGeom>
          <a:solidFill>
            <a:srgbClr val="0D9488"/>
          </a:solidFill>
          <a:ln w="12700">
            <a:solidFill>
              <a:srgbClr val="0D9488"/>
            </a:solidFill>
            <a:prstDash val="solid"/>
          </a:ln>
        </p:spPr>
      </p:sp>
      <p:sp>
        <p:nvSpPr>
          <p:cNvPr id="9" name="Text 6"/>
          <p:cNvSpPr/>
          <p:nvPr/>
        </p:nvSpPr>
        <p:spPr>
          <a:xfrm>
            <a:off x="274320" y="2999232"/>
            <a:ext cx="2743200" cy="256032"/>
          </a:xfrm>
          <a:prstGeom prst="rect">
            <a:avLst/>
          </a:prstGeom>
          <a:noFill/>
          <a:ln/>
        </p:spPr>
        <p:txBody>
          <a:bodyPr wrap="square" lIns="0" tIns="0" rIns="0" bIns="0" rtlCol="0" anchor="ctr"/>
          <a:lstStyle/>
          <a:p>
            <a:pPr indent="0" marL="0">
              <a:buNone/>
            </a:pPr>
            <a:r>
              <a:rPr lang="en-US" sz="1100" b="1" dirty="0">
                <a:solidFill>
                  <a:srgbClr val="14B8A6"/>
                </a:solidFill>
              </a:rPr>
              <a:t>Problem Statement:</a:t>
            </a:r>
            <a:endParaRPr lang="en-US" sz="1100" dirty="0"/>
          </a:p>
        </p:txBody>
      </p:sp>
      <p:sp>
        <p:nvSpPr>
          <p:cNvPr id="10" name="Text 7"/>
          <p:cNvSpPr/>
          <p:nvPr/>
        </p:nvSpPr>
        <p:spPr>
          <a:xfrm>
            <a:off x="274320" y="3291840"/>
            <a:ext cx="8412480" cy="1005840"/>
          </a:xfrm>
          <a:prstGeom prst="rect">
            <a:avLst/>
          </a:prstGeom>
          <a:noFill/>
          <a:ln/>
        </p:spPr>
        <p:txBody>
          <a:bodyPr wrap="square" lIns="0" tIns="0" rIns="0" bIns="0" rtlCol="0" anchor="ctr"/>
          <a:lstStyle/>
          <a:p>
            <a:pPr indent="0" marL="0">
              <a:buNone/>
            </a:pPr>
            <a:r>
              <a:rPr lang="en-US" sz="1300" dirty="0">
                <a:solidFill>
                  <a:srgbClr val="94A3B8"/>
                </a:solidFill>
              </a:rPr>
              <a:t>Millions of online comments contain toxic content daily. Manual moderation is slow and unscalable. We need an automated system capable of detecting multiple toxicity types simultaneously.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59E0B"/>
          </a:solidFill>
          <a:ln w="12700">
            <a:solidFill>
              <a:srgbClr val="F59E0B"/>
            </a:solidFill>
            <a:prstDash val="solid"/>
          </a:ln>
        </p:spPr>
      </p:sp>
      <p:pic>
        <p:nvPicPr>
          <p:cNvPr id="3" name="Image 0" descr="preencoded.png">    </p:cNvPr>
          <p:cNvPicPr>
            <a:picLocks noChangeAspect="1"/>
          </p:cNvPicPr>
          <p:nvPr/>
        </p:nvPicPr>
        <p:blipFill>
          <a:blip r:embed="rId1"/>
          <a:stretch>
            <a:fillRect/>
          </a:stretch>
        </p:blipFill>
        <p:spPr>
          <a:xfrm>
            <a:off x="274320" y="228600"/>
            <a:ext cx="411480" cy="411480"/>
          </a:xfrm>
          <a:prstGeom prst="rect">
            <a:avLst/>
          </a:prstGeom>
        </p:spPr>
      </p:pic>
      <p:sp>
        <p:nvSpPr>
          <p:cNvPr id="4" name="Text 1"/>
          <p:cNvSpPr/>
          <p:nvPr/>
        </p:nvSpPr>
        <p:spPr>
          <a:xfrm>
            <a:off x="777240" y="256032"/>
            <a:ext cx="8046720" cy="384048"/>
          </a:xfrm>
          <a:prstGeom prst="rect">
            <a:avLst/>
          </a:prstGeom>
          <a:noFill/>
          <a:ln/>
        </p:spPr>
        <p:txBody>
          <a:bodyPr wrap="square" lIns="0" tIns="0" rIns="0" bIns="0" rtlCol="0" anchor="ctr"/>
          <a:lstStyle/>
          <a:p>
            <a:pPr indent="0" marL="0">
              <a:buNone/>
            </a:pPr>
            <a:r>
              <a:rPr lang="en-US" sz="2200" b="1" dirty="0">
                <a:solidFill>
                  <a:srgbClr val="F8FAFC"/>
                </a:solidFill>
              </a:rPr>
              <a:t>Dataset &amp; Class Imbalance</a:t>
            </a:r>
            <a:endParaRPr lang="en-US" sz="2200" dirty="0"/>
          </a:p>
        </p:txBody>
      </p:sp>
      <p:sp>
        <p:nvSpPr>
          <p:cNvPr id="5" name="Shape 2"/>
          <p:cNvSpPr/>
          <p:nvPr/>
        </p:nvSpPr>
        <p:spPr>
          <a:xfrm>
            <a:off x="274320" y="713232"/>
            <a:ext cx="8595360" cy="36576"/>
          </a:xfrm>
          <a:prstGeom prst="rect">
            <a:avLst/>
          </a:prstGeom>
          <a:solidFill>
            <a:srgbClr val="1E293B"/>
          </a:solidFill>
          <a:ln w="12700">
            <a:solidFill>
              <a:srgbClr val="1E293B"/>
            </a:solidFill>
            <a:prstDash val="solid"/>
          </a:ln>
        </p:spPr>
      </p:sp>
      <p:sp>
        <p:nvSpPr>
          <p:cNvPr id="6" name="Shape 3"/>
          <p:cNvSpPr/>
          <p:nvPr/>
        </p:nvSpPr>
        <p:spPr>
          <a:xfrm>
            <a:off x="274320" y="868680"/>
            <a:ext cx="2743200" cy="118872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7" name="Shape 4"/>
          <p:cNvSpPr/>
          <p:nvPr/>
        </p:nvSpPr>
        <p:spPr>
          <a:xfrm>
            <a:off x="274320" y="868680"/>
            <a:ext cx="2743200" cy="54864"/>
          </a:xfrm>
          <a:prstGeom prst="rect">
            <a:avLst/>
          </a:prstGeom>
          <a:solidFill>
            <a:srgbClr val="14B8A6"/>
          </a:solidFill>
          <a:ln w="12700">
            <a:solidFill>
              <a:srgbClr val="14B8A6"/>
            </a:solidFill>
            <a:prstDash val="solid"/>
          </a:ln>
        </p:spPr>
      </p:sp>
      <p:sp>
        <p:nvSpPr>
          <p:cNvPr id="8" name="Text 5"/>
          <p:cNvSpPr/>
          <p:nvPr/>
        </p:nvSpPr>
        <p:spPr>
          <a:xfrm>
            <a:off x="274320" y="987552"/>
            <a:ext cx="2743200" cy="502920"/>
          </a:xfrm>
          <a:prstGeom prst="rect">
            <a:avLst/>
          </a:prstGeom>
          <a:noFill/>
          <a:ln/>
        </p:spPr>
        <p:txBody>
          <a:bodyPr wrap="square" lIns="0" tIns="0" rIns="0" bIns="0" rtlCol="0" anchor="ctr"/>
          <a:lstStyle/>
          <a:p>
            <a:pPr algn="ctr" indent="0" marL="0">
              <a:buNone/>
            </a:pPr>
            <a:r>
              <a:rPr lang="en-US" sz="3200" b="1" dirty="0">
                <a:solidFill>
                  <a:srgbClr val="14B8A6"/>
                </a:solidFill>
              </a:rPr>
              <a:t>~159K</a:t>
            </a:r>
            <a:endParaRPr lang="en-US" sz="3200" dirty="0"/>
          </a:p>
        </p:txBody>
      </p:sp>
      <p:sp>
        <p:nvSpPr>
          <p:cNvPr id="9" name="Text 6"/>
          <p:cNvSpPr/>
          <p:nvPr/>
        </p:nvSpPr>
        <p:spPr>
          <a:xfrm>
            <a:off x="274320" y="1481328"/>
            <a:ext cx="2743200" cy="475488"/>
          </a:xfrm>
          <a:prstGeom prst="rect">
            <a:avLst/>
          </a:prstGeom>
          <a:noFill/>
          <a:ln/>
        </p:spPr>
        <p:txBody>
          <a:bodyPr wrap="square" lIns="0" tIns="0" rIns="0" bIns="0" rtlCol="0" anchor="ctr"/>
          <a:lstStyle/>
          <a:p>
            <a:pPr algn="ctr" indent="0" marL="0">
              <a:buNone/>
            </a:pPr>
            <a:r>
              <a:rPr lang="en-US" sz="1100" dirty="0">
                <a:solidFill>
                  <a:srgbClr val="94A3B8"/>
                </a:solidFill>
              </a:rPr>
              <a:t>comments</a:t>
            </a:r>
            <a:endParaRPr lang="en-US" sz="1100" dirty="0"/>
          </a:p>
          <a:p>
            <a:pPr algn="ctr" indent="0" marL="0">
              <a:buNone/>
            </a:pPr>
            <a:r>
              <a:rPr lang="en-US" sz="1100" dirty="0">
                <a:solidFill>
                  <a:srgbClr val="94A3B8"/>
                </a:solidFill>
              </a:rPr>
              <a:t>in dataset</a:t>
            </a:r>
            <a:endParaRPr lang="en-US" sz="1100" dirty="0"/>
          </a:p>
        </p:txBody>
      </p:sp>
      <p:sp>
        <p:nvSpPr>
          <p:cNvPr id="10" name="Shape 7"/>
          <p:cNvSpPr/>
          <p:nvPr/>
        </p:nvSpPr>
        <p:spPr>
          <a:xfrm>
            <a:off x="3200400" y="868680"/>
            <a:ext cx="2743200" cy="118872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3200400" y="868680"/>
            <a:ext cx="2743200" cy="54864"/>
          </a:xfrm>
          <a:prstGeom prst="rect">
            <a:avLst/>
          </a:prstGeom>
          <a:solidFill>
            <a:srgbClr val="F59E0B"/>
          </a:solidFill>
          <a:ln w="12700">
            <a:solidFill>
              <a:srgbClr val="F59E0B"/>
            </a:solidFill>
            <a:prstDash val="solid"/>
          </a:ln>
        </p:spPr>
      </p:sp>
      <p:sp>
        <p:nvSpPr>
          <p:cNvPr id="12" name="Text 9"/>
          <p:cNvSpPr/>
          <p:nvPr/>
        </p:nvSpPr>
        <p:spPr>
          <a:xfrm>
            <a:off x="3200400" y="987552"/>
            <a:ext cx="2743200" cy="502920"/>
          </a:xfrm>
          <a:prstGeom prst="rect">
            <a:avLst/>
          </a:prstGeom>
          <a:noFill/>
          <a:ln/>
        </p:spPr>
        <p:txBody>
          <a:bodyPr wrap="square" lIns="0" tIns="0" rIns="0" bIns="0" rtlCol="0" anchor="ctr"/>
          <a:lstStyle/>
          <a:p>
            <a:pPr algn="ctr" indent="0" marL="0">
              <a:buNone/>
            </a:pPr>
            <a:r>
              <a:rPr lang="en-US" sz="3200" b="1" dirty="0">
                <a:solidFill>
                  <a:srgbClr val="F59E0B"/>
                </a:solidFill>
              </a:rPr>
              <a:t>6</a:t>
            </a:r>
            <a:endParaRPr lang="en-US" sz="3200" dirty="0"/>
          </a:p>
        </p:txBody>
      </p:sp>
      <p:sp>
        <p:nvSpPr>
          <p:cNvPr id="13" name="Text 10"/>
          <p:cNvSpPr/>
          <p:nvPr/>
        </p:nvSpPr>
        <p:spPr>
          <a:xfrm>
            <a:off x="3200400" y="1481328"/>
            <a:ext cx="2743200" cy="475488"/>
          </a:xfrm>
          <a:prstGeom prst="rect">
            <a:avLst/>
          </a:prstGeom>
          <a:noFill/>
          <a:ln/>
        </p:spPr>
        <p:txBody>
          <a:bodyPr wrap="square" lIns="0" tIns="0" rIns="0" bIns="0" rtlCol="0" anchor="ctr"/>
          <a:lstStyle/>
          <a:p>
            <a:pPr algn="ctr" indent="0" marL="0">
              <a:buNone/>
            </a:pPr>
            <a:r>
              <a:rPr lang="en-US" sz="1100" dirty="0">
                <a:solidFill>
                  <a:srgbClr val="94A3B8"/>
                </a:solidFill>
              </a:rPr>
              <a:t>toxicity</a:t>
            </a:r>
            <a:endParaRPr lang="en-US" sz="1100" dirty="0"/>
          </a:p>
          <a:p>
            <a:pPr algn="ctr" indent="0" marL="0">
              <a:buNone/>
            </a:pPr>
            <a:r>
              <a:rPr lang="en-US" sz="1100" dirty="0">
                <a:solidFill>
                  <a:srgbClr val="94A3B8"/>
                </a:solidFill>
              </a:rPr>
              <a:t>classes</a:t>
            </a:r>
            <a:endParaRPr lang="en-US" sz="1100" dirty="0"/>
          </a:p>
        </p:txBody>
      </p:sp>
      <p:sp>
        <p:nvSpPr>
          <p:cNvPr id="14" name="Shape 11"/>
          <p:cNvSpPr/>
          <p:nvPr/>
        </p:nvSpPr>
        <p:spPr>
          <a:xfrm>
            <a:off x="6126480" y="868680"/>
            <a:ext cx="2743200" cy="118872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15" name="Shape 12"/>
          <p:cNvSpPr/>
          <p:nvPr/>
        </p:nvSpPr>
        <p:spPr>
          <a:xfrm>
            <a:off x="6126480" y="868680"/>
            <a:ext cx="2743200" cy="54864"/>
          </a:xfrm>
          <a:prstGeom prst="rect">
            <a:avLst/>
          </a:prstGeom>
          <a:solidFill>
            <a:srgbClr val="F43F5E"/>
          </a:solidFill>
          <a:ln w="12700">
            <a:solidFill>
              <a:srgbClr val="F43F5E"/>
            </a:solidFill>
            <a:prstDash val="solid"/>
          </a:ln>
        </p:spPr>
      </p:sp>
      <p:sp>
        <p:nvSpPr>
          <p:cNvPr id="16" name="Text 13"/>
          <p:cNvSpPr/>
          <p:nvPr/>
        </p:nvSpPr>
        <p:spPr>
          <a:xfrm>
            <a:off x="6126480" y="987552"/>
            <a:ext cx="2743200" cy="502920"/>
          </a:xfrm>
          <a:prstGeom prst="rect">
            <a:avLst/>
          </a:prstGeom>
          <a:noFill/>
          <a:ln/>
        </p:spPr>
        <p:txBody>
          <a:bodyPr wrap="square" lIns="0" tIns="0" rIns="0" bIns="0" rtlCol="0" anchor="ctr"/>
          <a:lstStyle/>
          <a:p>
            <a:pPr algn="ctr" indent="0" marL="0">
              <a:buNone/>
            </a:pPr>
            <a:r>
              <a:rPr lang="en-US" sz="3200" b="1" dirty="0">
                <a:solidFill>
                  <a:srgbClr val="F43F5E"/>
                </a:solidFill>
              </a:rPr>
              <a:t>~90%</a:t>
            </a:r>
            <a:endParaRPr lang="en-US" sz="3200" dirty="0"/>
          </a:p>
        </p:txBody>
      </p:sp>
      <p:sp>
        <p:nvSpPr>
          <p:cNvPr id="17" name="Text 14"/>
          <p:cNvSpPr/>
          <p:nvPr/>
        </p:nvSpPr>
        <p:spPr>
          <a:xfrm>
            <a:off x="6126480" y="1481328"/>
            <a:ext cx="2743200" cy="475488"/>
          </a:xfrm>
          <a:prstGeom prst="rect">
            <a:avLst/>
          </a:prstGeom>
          <a:noFill/>
          <a:ln/>
        </p:spPr>
        <p:txBody>
          <a:bodyPr wrap="square" lIns="0" tIns="0" rIns="0" bIns="0" rtlCol="0" anchor="ctr"/>
          <a:lstStyle/>
          <a:p>
            <a:pPr algn="ctr" indent="0" marL="0">
              <a:buNone/>
            </a:pPr>
            <a:r>
              <a:rPr lang="en-US" sz="1100" dirty="0">
                <a:solidFill>
                  <a:srgbClr val="94A3B8"/>
                </a:solidFill>
              </a:rPr>
              <a:t>clean</a:t>
            </a:r>
            <a:endParaRPr lang="en-US" sz="1100" dirty="0"/>
          </a:p>
          <a:p>
            <a:pPr algn="ctr" indent="0" marL="0">
              <a:buNone/>
            </a:pPr>
            <a:r>
              <a:rPr lang="en-US" sz="1100" dirty="0">
                <a:solidFill>
                  <a:srgbClr val="94A3B8"/>
                </a:solidFill>
              </a:rPr>
              <a:t>comments</a:t>
            </a:r>
            <a:endParaRPr lang="en-US" sz="1100" dirty="0"/>
          </a:p>
        </p:txBody>
      </p:sp>
      <p:graphicFrame>
        <p:nvGraphicFramePr>
          <p:cNvPr id="18" name="Chart 0" descr=""/>
          <p:cNvGraphicFramePr/>
          <p:nvPr/>
        </p:nvGraphicFramePr>
        <p:xfrm>
          <a:off x="274320" y="2240280"/>
          <a:ext cx="5303520" cy="2560320"/>
        </p:xfrm>
        <a:graphic xmlns:a="http://schemas.openxmlformats.org/drawingml/2006/main">
          <a:graphicData uri="http://schemas.openxmlformats.org/drawingml/2006/chart">
            <c:chart xmlns:c="http://schemas.openxmlformats.org/drawingml/2006/chart" r:id="rId2"/>
          </a:graphicData>
        </a:graphic>
      </p:graphicFrame>
      <p:sp>
        <p:nvSpPr>
          <p:cNvPr id="19" name="Shape 15"/>
          <p:cNvSpPr/>
          <p:nvPr/>
        </p:nvSpPr>
        <p:spPr>
          <a:xfrm>
            <a:off x="5852160" y="2286000"/>
            <a:ext cx="3063240" cy="713232"/>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pic>
        <p:nvPicPr>
          <p:cNvPr id="20" name="Image 1" descr="preencoded.png">    </p:cNvPr>
          <p:cNvPicPr>
            <a:picLocks noChangeAspect="1"/>
          </p:cNvPicPr>
          <p:nvPr/>
        </p:nvPicPr>
        <p:blipFill>
          <a:blip r:embed="rId3"/>
          <a:stretch>
            <a:fillRect/>
          </a:stretch>
        </p:blipFill>
        <p:spPr>
          <a:xfrm>
            <a:off x="5989320" y="2450592"/>
            <a:ext cx="320040" cy="320040"/>
          </a:xfrm>
          <a:prstGeom prst="rect">
            <a:avLst/>
          </a:prstGeom>
        </p:spPr>
      </p:pic>
      <p:sp>
        <p:nvSpPr>
          <p:cNvPr id="21" name="Text 16"/>
          <p:cNvSpPr/>
          <p:nvPr/>
        </p:nvSpPr>
        <p:spPr>
          <a:xfrm>
            <a:off x="6419088" y="2377440"/>
            <a:ext cx="2377440" cy="530352"/>
          </a:xfrm>
          <a:prstGeom prst="rect">
            <a:avLst/>
          </a:prstGeom>
          <a:noFill/>
          <a:ln/>
        </p:spPr>
        <p:txBody>
          <a:bodyPr wrap="square" lIns="0" tIns="0" rIns="0" bIns="0" rtlCol="0" anchor="ctr"/>
          <a:lstStyle/>
          <a:p>
            <a:pPr indent="0" marL="0">
              <a:buNone/>
            </a:pPr>
            <a:r>
              <a:rPr lang="en-US" sz="1000" dirty="0">
                <a:solidFill>
                  <a:srgbClr val="F8FAFC"/>
                </a:solidFill>
              </a:rPr>
              <a:t>'threat' class &lt; 0.3% of all data — extreme imbalance</a:t>
            </a:r>
            <a:endParaRPr lang="en-US" sz="1000" dirty="0"/>
          </a:p>
        </p:txBody>
      </p:sp>
      <p:sp>
        <p:nvSpPr>
          <p:cNvPr id="22" name="Shape 17"/>
          <p:cNvSpPr/>
          <p:nvPr/>
        </p:nvSpPr>
        <p:spPr>
          <a:xfrm>
            <a:off x="5852160" y="3154680"/>
            <a:ext cx="3063240" cy="713232"/>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pic>
        <p:nvPicPr>
          <p:cNvPr id="23" name="Image 2" descr="preencoded.png">    </p:cNvPr>
          <p:cNvPicPr>
            <a:picLocks noChangeAspect="1"/>
          </p:cNvPicPr>
          <p:nvPr/>
        </p:nvPicPr>
        <p:blipFill>
          <a:blip r:embed="rId4"/>
          <a:stretch>
            <a:fillRect/>
          </a:stretch>
        </p:blipFill>
        <p:spPr>
          <a:xfrm>
            <a:off x="5989320" y="3319272"/>
            <a:ext cx="320040" cy="320040"/>
          </a:xfrm>
          <a:prstGeom prst="rect">
            <a:avLst/>
          </a:prstGeom>
        </p:spPr>
      </p:pic>
      <p:sp>
        <p:nvSpPr>
          <p:cNvPr id="24" name="Text 18"/>
          <p:cNvSpPr/>
          <p:nvPr/>
        </p:nvSpPr>
        <p:spPr>
          <a:xfrm>
            <a:off x="6419088" y="3246120"/>
            <a:ext cx="2377440" cy="530352"/>
          </a:xfrm>
          <a:prstGeom prst="rect">
            <a:avLst/>
          </a:prstGeom>
          <a:noFill/>
          <a:ln/>
        </p:spPr>
        <p:txBody>
          <a:bodyPr wrap="square" lIns="0" tIns="0" rIns="0" bIns="0" rtlCol="0" anchor="ctr"/>
          <a:lstStyle/>
          <a:p>
            <a:pPr indent="0" marL="0">
              <a:buNone/>
            </a:pPr>
            <a:r>
              <a:rPr lang="en-US" sz="1000" dirty="0">
                <a:solidFill>
                  <a:srgbClr val="F8FAFC"/>
                </a:solidFill>
              </a:rPr>
              <a:t>One comment can be toxic + insult simultaneously (multi-label)</a:t>
            </a:r>
            <a:endParaRPr lang="en-US" sz="1000" dirty="0"/>
          </a:p>
        </p:txBody>
      </p:sp>
      <p:sp>
        <p:nvSpPr>
          <p:cNvPr id="25" name="Shape 19"/>
          <p:cNvSpPr/>
          <p:nvPr/>
        </p:nvSpPr>
        <p:spPr>
          <a:xfrm>
            <a:off x="5852160" y="4023360"/>
            <a:ext cx="3063240" cy="713232"/>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pic>
        <p:nvPicPr>
          <p:cNvPr id="26" name="Image 3" descr="preencoded.png">    </p:cNvPr>
          <p:cNvPicPr>
            <a:picLocks noChangeAspect="1"/>
          </p:cNvPicPr>
          <p:nvPr/>
        </p:nvPicPr>
        <p:blipFill>
          <a:blip r:embed="rId5"/>
          <a:stretch>
            <a:fillRect/>
          </a:stretch>
        </p:blipFill>
        <p:spPr>
          <a:xfrm>
            <a:off x="5989320" y="4187952"/>
            <a:ext cx="320040" cy="320040"/>
          </a:xfrm>
          <a:prstGeom prst="rect">
            <a:avLst/>
          </a:prstGeom>
        </p:spPr>
      </p:pic>
      <p:sp>
        <p:nvSpPr>
          <p:cNvPr id="27" name="Text 20"/>
          <p:cNvSpPr/>
          <p:nvPr/>
        </p:nvSpPr>
        <p:spPr>
          <a:xfrm>
            <a:off x="6419088" y="4114800"/>
            <a:ext cx="2377440" cy="530352"/>
          </a:xfrm>
          <a:prstGeom prst="rect">
            <a:avLst/>
          </a:prstGeom>
          <a:noFill/>
          <a:ln/>
        </p:spPr>
        <p:txBody>
          <a:bodyPr wrap="square" lIns="0" tIns="0" rIns="0" bIns="0" rtlCol="0" anchor="ctr"/>
          <a:lstStyle/>
          <a:p>
            <a:pPr indent="0" marL="0">
              <a:buNone/>
            </a:pPr>
            <a:r>
              <a:rPr lang="en-US" sz="1000" dirty="0">
                <a:solidFill>
                  <a:srgbClr val="F8FAFC"/>
                </a:solidFill>
              </a:rPr>
              <a:t>Metric: Macro ROC-AUC — robust to class imbalance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14B8A6"/>
          </a:solidFill>
          <a:ln w="12700">
            <a:solidFill>
              <a:srgbClr val="14B8A6"/>
            </a:solidFill>
            <a:prstDash val="solid"/>
          </a:ln>
        </p:spPr>
      </p:sp>
      <p:pic>
        <p:nvPicPr>
          <p:cNvPr id="3" name="Image 0" descr="preencoded.png">    </p:cNvPr>
          <p:cNvPicPr>
            <a:picLocks noChangeAspect="1"/>
          </p:cNvPicPr>
          <p:nvPr/>
        </p:nvPicPr>
        <p:blipFill>
          <a:blip r:embed="rId1"/>
          <a:stretch>
            <a:fillRect/>
          </a:stretch>
        </p:blipFill>
        <p:spPr>
          <a:xfrm>
            <a:off x="274320" y="228600"/>
            <a:ext cx="411480" cy="411480"/>
          </a:xfrm>
          <a:prstGeom prst="rect">
            <a:avLst/>
          </a:prstGeom>
        </p:spPr>
      </p:pic>
      <p:sp>
        <p:nvSpPr>
          <p:cNvPr id="4" name="Text 1"/>
          <p:cNvSpPr/>
          <p:nvPr/>
        </p:nvSpPr>
        <p:spPr>
          <a:xfrm>
            <a:off x="777240" y="256032"/>
            <a:ext cx="8046720" cy="384048"/>
          </a:xfrm>
          <a:prstGeom prst="rect">
            <a:avLst/>
          </a:prstGeom>
          <a:noFill/>
          <a:ln/>
        </p:spPr>
        <p:txBody>
          <a:bodyPr wrap="square" lIns="0" tIns="0" rIns="0" bIns="0" rtlCol="0" anchor="ctr"/>
          <a:lstStyle/>
          <a:p>
            <a:pPr indent="0" marL="0">
              <a:buNone/>
            </a:pPr>
            <a:r>
              <a:rPr lang="en-US" sz="2200" b="1" dirty="0">
                <a:solidFill>
                  <a:srgbClr val="F8FAFC"/>
                </a:solidFill>
              </a:rPr>
              <a:t>Baseline: TF-IDF + Logistic Regression</a:t>
            </a:r>
            <a:endParaRPr lang="en-US" sz="2200" dirty="0"/>
          </a:p>
        </p:txBody>
      </p:sp>
      <p:sp>
        <p:nvSpPr>
          <p:cNvPr id="5" name="Shape 2"/>
          <p:cNvSpPr/>
          <p:nvPr/>
        </p:nvSpPr>
        <p:spPr>
          <a:xfrm>
            <a:off x="274320" y="713232"/>
            <a:ext cx="8595360" cy="36576"/>
          </a:xfrm>
          <a:prstGeom prst="rect">
            <a:avLst/>
          </a:prstGeom>
          <a:solidFill>
            <a:srgbClr val="1E293B"/>
          </a:solidFill>
          <a:ln w="12700">
            <a:solidFill>
              <a:srgbClr val="1E293B"/>
            </a:solidFill>
            <a:prstDash val="solid"/>
          </a:ln>
        </p:spPr>
      </p:sp>
      <p:sp>
        <p:nvSpPr>
          <p:cNvPr id="6" name="Shape 3"/>
          <p:cNvSpPr/>
          <p:nvPr/>
        </p:nvSpPr>
        <p:spPr>
          <a:xfrm>
            <a:off x="274320" y="914400"/>
            <a:ext cx="2606040" cy="1554480"/>
          </a:xfrm>
          <a:prstGeom prst="rect">
            <a:avLst/>
          </a:prstGeom>
          <a:solidFill>
            <a:srgbClr val="1E293B"/>
          </a:solidFill>
          <a:ln w="12700">
            <a:solidFill>
              <a:srgbClr val="94A3B8"/>
            </a:solidFill>
            <a:prstDash val="solid"/>
          </a:ln>
          <a:effectLst>
            <a:outerShdw sx="100000" sy="100000" kx="0" ky="0" algn="bl" rotWithShape="0" blurRad="101600" dist="38100" dir="8100000">
              <a:srgbClr val="000000">
                <a:alpha val="25000"/>
              </a:srgbClr>
            </a:outerShdw>
          </a:effectLst>
        </p:spPr>
      </p:sp>
      <p:sp>
        <p:nvSpPr>
          <p:cNvPr id="7" name="Text 4"/>
          <p:cNvSpPr/>
          <p:nvPr/>
        </p:nvSpPr>
        <p:spPr>
          <a:xfrm>
            <a:off x="274320" y="1005840"/>
            <a:ext cx="2606040" cy="384048"/>
          </a:xfrm>
          <a:prstGeom prst="rect">
            <a:avLst/>
          </a:prstGeom>
          <a:noFill/>
          <a:ln/>
        </p:spPr>
        <p:txBody>
          <a:bodyPr wrap="square" lIns="0" tIns="0" rIns="0" bIns="0" rtlCol="0" anchor="ctr"/>
          <a:lstStyle/>
          <a:p>
            <a:pPr algn="ctr" indent="0" marL="0">
              <a:buNone/>
            </a:pPr>
            <a:r>
              <a:rPr lang="en-US" sz="1300" b="1" dirty="0">
                <a:solidFill>
                  <a:srgbClr val="F8FAFC"/>
                </a:solidFill>
              </a:rPr>
              <a:t>Pre-processing</a:t>
            </a:r>
            <a:endParaRPr lang="en-US" sz="1300" dirty="0"/>
          </a:p>
        </p:txBody>
      </p:sp>
      <p:sp>
        <p:nvSpPr>
          <p:cNvPr id="8" name="Text 5"/>
          <p:cNvSpPr/>
          <p:nvPr/>
        </p:nvSpPr>
        <p:spPr>
          <a:xfrm>
            <a:off x="274320" y="1417320"/>
            <a:ext cx="2606040" cy="914400"/>
          </a:xfrm>
          <a:prstGeom prst="rect">
            <a:avLst/>
          </a:prstGeom>
          <a:noFill/>
          <a:ln/>
        </p:spPr>
        <p:txBody>
          <a:bodyPr wrap="square" lIns="0" tIns="0" rIns="0" bIns="0" rtlCol="0" anchor="ctr"/>
          <a:lstStyle/>
          <a:p>
            <a:pPr algn="ctr" indent="0" marL="0">
              <a:buNone/>
            </a:pPr>
            <a:r>
              <a:rPr lang="en-US" sz="1050" dirty="0">
                <a:solidFill>
                  <a:srgbClr val="94A3B8"/>
                </a:solidFill>
              </a:rPr>
              <a:t>Lowercase</a:t>
            </a:r>
            <a:endParaRPr lang="en-US" sz="1050" dirty="0"/>
          </a:p>
          <a:p>
            <a:pPr algn="ctr" indent="0" marL="0">
              <a:buNone/>
            </a:pPr>
            <a:r>
              <a:rPr lang="en-US" sz="1050" dirty="0">
                <a:solidFill>
                  <a:srgbClr val="94A3B8"/>
                </a:solidFill>
              </a:rPr>
              <a:t>Regex clean</a:t>
            </a:r>
            <a:endParaRPr lang="en-US" sz="1050" dirty="0"/>
          </a:p>
          <a:p>
            <a:pPr algn="ctr" indent="0" marL="0">
              <a:buNone/>
            </a:pPr>
            <a:r>
              <a:rPr lang="en-US" sz="1050" dirty="0">
                <a:solidFill>
                  <a:srgbClr val="94A3B8"/>
                </a:solidFill>
              </a:rPr>
              <a:t>Tokenization</a:t>
            </a:r>
            <a:endParaRPr lang="en-US" sz="1050" dirty="0"/>
          </a:p>
        </p:txBody>
      </p:sp>
      <p:sp>
        <p:nvSpPr>
          <p:cNvPr id="9" name="Shape 6"/>
          <p:cNvSpPr/>
          <p:nvPr/>
        </p:nvSpPr>
        <p:spPr>
          <a:xfrm>
            <a:off x="2880360" y="1673352"/>
            <a:ext cx="274320" cy="45720"/>
          </a:xfrm>
          <a:prstGeom prst="rect">
            <a:avLst/>
          </a:prstGeom>
          <a:solidFill>
            <a:srgbClr val="14B8A6"/>
          </a:solidFill>
          <a:ln w="12700">
            <a:solidFill>
              <a:srgbClr val="14B8A6"/>
            </a:solidFill>
            <a:prstDash val="solid"/>
          </a:ln>
        </p:spPr>
      </p:sp>
      <p:sp>
        <p:nvSpPr>
          <p:cNvPr id="10" name="Shape 7"/>
          <p:cNvSpPr/>
          <p:nvPr/>
        </p:nvSpPr>
        <p:spPr>
          <a:xfrm>
            <a:off x="3154680" y="914400"/>
            <a:ext cx="2606040" cy="1554480"/>
          </a:xfrm>
          <a:prstGeom prst="rect">
            <a:avLst/>
          </a:prstGeom>
          <a:solidFill>
            <a:srgbClr val="1E293B"/>
          </a:solidFill>
          <a:ln w="12700">
            <a:solidFill>
              <a:srgbClr val="14B8A6"/>
            </a:solidFill>
            <a:prstDash val="solid"/>
          </a:ln>
          <a:effectLst>
            <a:outerShdw sx="100000" sy="100000" kx="0" ky="0" algn="bl" rotWithShape="0" blurRad="101600" dist="38100" dir="8100000">
              <a:srgbClr val="000000">
                <a:alpha val="25000"/>
              </a:srgbClr>
            </a:outerShdw>
          </a:effectLst>
        </p:spPr>
      </p:sp>
      <p:sp>
        <p:nvSpPr>
          <p:cNvPr id="11" name="Text 8"/>
          <p:cNvSpPr/>
          <p:nvPr/>
        </p:nvSpPr>
        <p:spPr>
          <a:xfrm>
            <a:off x="3154680" y="1005840"/>
            <a:ext cx="2606040" cy="384048"/>
          </a:xfrm>
          <a:prstGeom prst="rect">
            <a:avLst/>
          </a:prstGeom>
          <a:noFill/>
          <a:ln/>
        </p:spPr>
        <p:txBody>
          <a:bodyPr wrap="square" lIns="0" tIns="0" rIns="0" bIns="0" rtlCol="0" anchor="ctr"/>
          <a:lstStyle/>
          <a:p>
            <a:pPr algn="ctr" indent="0" marL="0">
              <a:buNone/>
            </a:pPr>
            <a:r>
              <a:rPr lang="en-US" sz="1300" b="1" dirty="0">
                <a:solidFill>
                  <a:srgbClr val="F8FAFC"/>
                </a:solidFill>
              </a:rPr>
              <a:t>TF-IDF Vectorizer</a:t>
            </a:r>
            <a:endParaRPr lang="en-US" sz="1300" dirty="0"/>
          </a:p>
        </p:txBody>
      </p:sp>
      <p:sp>
        <p:nvSpPr>
          <p:cNvPr id="12" name="Text 9"/>
          <p:cNvSpPr/>
          <p:nvPr/>
        </p:nvSpPr>
        <p:spPr>
          <a:xfrm>
            <a:off x="3154680" y="1417320"/>
            <a:ext cx="2606040" cy="914400"/>
          </a:xfrm>
          <a:prstGeom prst="rect">
            <a:avLst/>
          </a:prstGeom>
          <a:noFill/>
          <a:ln/>
        </p:spPr>
        <p:txBody>
          <a:bodyPr wrap="square" lIns="0" tIns="0" rIns="0" bIns="0" rtlCol="0" anchor="ctr"/>
          <a:lstStyle/>
          <a:p>
            <a:pPr algn="ctr" indent="0" marL="0">
              <a:buNone/>
            </a:pPr>
            <a:r>
              <a:rPr lang="en-US" sz="1050" dirty="0">
                <a:solidFill>
                  <a:srgbClr val="94A3B8"/>
                </a:solidFill>
              </a:rPr>
              <a:t>10,000 tokens</a:t>
            </a:r>
            <a:endParaRPr lang="en-US" sz="1050" dirty="0"/>
          </a:p>
          <a:p>
            <a:pPr algn="ctr" indent="0" marL="0">
              <a:buNone/>
            </a:pPr>
            <a:r>
              <a:rPr lang="en-US" sz="1050" dirty="0">
                <a:solidFill>
                  <a:srgbClr val="94A3B8"/>
                </a:solidFill>
              </a:rPr>
              <a:t>Unigrams + bigrams</a:t>
            </a:r>
            <a:endParaRPr lang="en-US" sz="1050" dirty="0"/>
          </a:p>
          <a:p>
            <a:pPr algn="ctr" indent="0" marL="0">
              <a:buNone/>
            </a:pPr>
            <a:r>
              <a:rPr lang="en-US" sz="1050" dirty="0">
                <a:solidFill>
                  <a:srgbClr val="94A3B8"/>
                </a:solidFill>
              </a:rPr>
              <a:t>Sparse matrix</a:t>
            </a:r>
            <a:endParaRPr lang="en-US" sz="1050" dirty="0"/>
          </a:p>
        </p:txBody>
      </p:sp>
      <p:sp>
        <p:nvSpPr>
          <p:cNvPr id="13" name="Shape 10"/>
          <p:cNvSpPr/>
          <p:nvPr/>
        </p:nvSpPr>
        <p:spPr>
          <a:xfrm>
            <a:off x="5760720" y="1673352"/>
            <a:ext cx="274320" cy="45720"/>
          </a:xfrm>
          <a:prstGeom prst="rect">
            <a:avLst/>
          </a:prstGeom>
          <a:solidFill>
            <a:srgbClr val="14B8A6"/>
          </a:solidFill>
          <a:ln w="12700">
            <a:solidFill>
              <a:srgbClr val="14B8A6"/>
            </a:solidFill>
            <a:prstDash val="solid"/>
          </a:ln>
        </p:spPr>
      </p:sp>
      <p:sp>
        <p:nvSpPr>
          <p:cNvPr id="14" name="Shape 11"/>
          <p:cNvSpPr/>
          <p:nvPr/>
        </p:nvSpPr>
        <p:spPr>
          <a:xfrm>
            <a:off x="6035040" y="914400"/>
            <a:ext cx="2606040" cy="1554480"/>
          </a:xfrm>
          <a:prstGeom prst="rect">
            <a:avLst/>
          </a:prstGeom>
          <a:solidFill>
            <a:srgbClr val="1E293B"/>
          </a:solidFill>
          <a:ln w="12700">
            <a:solidFill>
              <a:srgbClr val="F59E0B"/>
            </a:solidFill>
            <a:prstDash val="solid"/>
          </a:ln>
          <a:effectLst>
            <a:outerShdw sx="100000" sy="100000" kx="0" ky="0" algn="bl" rotWithShape="0" blurRad="101600" dist="38100" dir="8100000">
              <a:srgbClr val="000000">
                <a:alpha val="25000"/>
              </a:srgbClr>
            </a:outerShdw>
          </a:effectLst>
        </p:spPr>
      </p:sp>
      <p:sp>
        <p:nvSpPr>
          <p:cNvPr id="15" name="Text 12"/>
          <p:cNvSpPr/>
          <p:nvPr/>
        </p:nvSpPr>
        <p:spPr>
          <a:xfrm>
            <a:off x="6035040" y="1005840"/>
            <a:ext cx="2606040" cy="384048"/>
          </a:xfrm>
          <a:prstGeom prst="rect">
            <a:avLst/>
          </a:prstGeom>
          <a:noFill/>
          <a:ln/>
        </p:spPr>
        <p:txBody>
          <a:bodyPr wrap="square" lIns="0" tIns="0" rIns="0" bIns="0" rtlCol="0" anchor="ctr"/>
          <a:lstStyle/>
          <a:p>
            <a:pPr algn="ctr" indent="0" marL="0">
              <a:buNone/>
            </a:pPr>
            <a:r>
              <a:rPr lang="en-US" sz="1300" b="1" dirty="0">
                <a:solidFill>
                  <a:srgbClr val="F8FAFC"/>
                </a:solidFill>
              </a:rPr>
              <a:t>OneVsRest</a:t>
            </a:r>
            <a:endParaRPr lang="en-US" sz="1300" dirty="0"/>
          </a:p>
          <a:p>
            <a:pPr algn="ctr" indent="0" marL="0">
              <a:buNone/>
            </a:pPr>
            <a:r>
              <a:rPr lang="en-US" sz="1300" b="1" dirty="0">
                <a:solidFill>
                  <a:srgbClr val="F8FAFC"/>
                </a:solidFill>
              </a:rPr>
              <a:t>LogReg</a:t>
            </a:r>
            <a:endParaRPr lang="en-US" sz="1300" dirty="0"/>
          </a:p>
        </p:txBody>
      </p:sp>
      <p:sp>
        <p:nvSpPr>
          <p:cNvPr id="16" name="Text 13"/>
          <p:cNvSpPr/>
          <p:nvPr/>
        </p:nvSpPr>
        <p:spPr>
          <a:xfrm>
            <a:off x="6035040" y="1417320"/>
            <a:ext cx="2606040" cy="914400"/>
          </a:xfrm>
          <a:prstGeom prst="rect">
            <a:avLst/>
          </a:prstGeom>
          <a:noFill/>
          <a:ln/>
        </p:spPr>
        <p:txBody>
          <a:bodyPr wrap="square" lIns="0" tIns="0" rIns="0" bIns="0" rtlCol="0" anchor="ctr"/>
          <a:lstStyle/>
          <a:p>
            <a:pPr algn="ctr" indent="0" marL="0">
              <a:buNone/>
            </a:pPr>
            <a:r>
              <a:rPr lang="en-US" sz="1050" dirty="0">
                <a:solidFill>
                  <a:srgbClr val="94A3B8"/>
                </a:solidFill>
              </a:rPr>
              <a:t>6 binary classifiers</a:t>
            </a:r>
            <a:endParaRPr lang="en-US" sz="1050" dirty="0"/>
          </a:p>
          <a:p>
            <a:pPr algn="ctr" indent="0" marL="0">
              <a:buNone/>
            </a:pPr>
            <a:r>
              <a:rPr lang="en-US" sz="1050" dirty="0">
                <a:solidFill>
                  <a:srgbClr val="94A3B8"/>
                </a:solidFill>
              </a:rPr>
              <a:t>Independent per class</a:t>
            </a:r>
            <a:endParaRPr lang="en-US" sz="1050" dirty="0"/>
          </a:p>
          <a:p>
            <a:pPr algn="ctr" indent="0" marL="0">
              <a:buNone/>
            </a:pPr>
            <a:r>
              <a:rPr lang="en-US" sz="1050" dirty="0">
                <a:solidFill>
                  <a:srgbClr val="94A3B8"/>
                </a:solidFill>
              </a:rPr>
              <a:t>Sigmoid threshold</a:t>
            </a:r>
            <a:endParaRPr lang="en-US" sz="1050" dirty="0"/>
          </a:p>
        </p:txBody>
      </p:sp>
      <p:sp>
        <p:nvSpPr>
          <p:cNvPr id="17" name="Text 14"/>
          <p:cNvSpPr/>
          <p:nvPr/>
        </p:nvSpPr>
        <p:spPr>
          <a:xfrm>
            <a:off x="274320" y="2743200"/>
            <a:ext cx="4023360" cy="274320"/>
          </a:xfrm>
          <a:prstGeom prst="rect">
            <a:avLst/>
          </a:prstGeom>
          <a:noFill/>
          <a:ln/>
        </p:spPr>
        <p:txBody>
          <a:bodyPr wrap="square" lIns="0" tIns="0" rIns="0" bIns="0" rtlCol="0" anchor="ctr"/>
          <a:lstStyle/>
          <a:p>
            <a:pPr indent="0" marL="0">
              <a:buNone/>
            </a:pPr>
            <a:r>
              <a:rPr lang="en-US" sz="1200" b="1" dirty="0">
                <a:solidFill>
                  <a:srgbClr val="22C55E"/>
                </a:solidFill>
              </a:rPr>
              <a:t>Strengths</a:t>
            </a:r>
            <a:endParaRPr lang="en-US" sz="1200" dirty="0"/>
          </a:p>
        </p:txBody>
      </p:sp>
      <p:pic>
        <p:nvPicPr>
          <p:cNvPr id="18" name="Image 1" descr="preencoded.png">    </p:cNvPr>
          <p:cNvPicPr>
            <a:picLocks noChangeAspect="1"/>
          </p:cNvPicPr>
          <p:nvPr/>
        </p:nvPicPr>
        <p:blipFill>
          <a:blip r:embed="rId2"/>
          <a:stretch>
            <a:fillRect/>
          </a:stretch>
        </p:blipFill>
        <p:spPr>
          <a:xfrm>
            <a:off x="274320" y="3090672"/>
            <a:ext cx="256032" cy="256032"/>
          </a:xfrm>
          <a:prstGeom prst="rect">
            <a:avLst/>
          </a:prstGeom>
        </p:spPr>
      </p:pic>
      <p:sp>
        <p:nvSpPr>
          <p:cNvPr id="19" name="Text 15"/>
          <p:cNvSpPr/>
          <p:nvPr/>
        </p:nvSpPr>
        <p:spPr>
          <a:xfrm>
            <a:off x="640080" y="3044952"/>
            <a:ext cx="3474720" cy="347472"/>
          </a:xfrm>
          <a:prstGeom prst="rect">
            <a:avLst/>
          </a:prstGeom>
          <a:noFill/>
          <a:ln/>
        </p:spPr>
        <p:txBody>
          <a:bodyPr wrap="square" lIns="0" tIns="0" rIns="0" bIns="0" rtlCol="0" anchor="ctr"/>
          <a:lstStyle/>
          <a:p>
            <a:pPr indent="0" marL="0">
              <a:buNone/>
            </a:pPr>
            <a:r>
              <a:rPr lang="en-US" sz="1100" dirty="0">
                <a:solidFill>
                  <a:srgbClr val="F8FAFC"/>
                </a:solidFill>
              </a:rPr>
              <a:t>Fast to train — no GPU required</a:t>
            </a:r>
            <a:endParaRPr lang="en-US" sz="1100" dirty="0"/>
          </a:p>
        </p:txBody>
      </p:sp>
      <p:pic>
        <p:nvPicPr>
          <p:cNvPr id="20" name="Image 2" descr="preencoded.png">    </p:cNvPr>
          <p:cNvPicPr>
            <a:picLocks noChangeAspect="1"/>
          </p:cNvPicPr>
          <p:nvPr/>
        </p:nvPicPr>
        <p:blipFill>
          <a:blip r:embed="rId3"/>
          <a:stretch>
            <a:fillRect/>
          </a:stretch>
        </p:blipFill>
        <p:spPr>
          <a:xfrm>
            <a:off x="274320" y="3529584"/>
            <a:ext cx="256032" cy="256032"/>
          </a:xfrm>
          <a:prstGeom prst="rect">
            <a:avLst/>
          </a:prstGeom>
        </p:spPr>
      </p:pic>
      <p:sp>
        <p:nvSpPr>
          <p:cNvPr id="21" name="Text 16"/>
          <p:cNvSpPr/>
          <p:nvPr/>
        </p:nvSpPr>
        <p:spPr>
          <a:xfrm>
            <a:off x="640080" y="3483864"/>
            <a:ext cx="3474720" cy="347472"/>
          </a:xfrm>
          <a:prstGeom prst="rect">
            <a:avLst/>
          </a:prstGeom>
          <a:noFill/>
          <a:ln/>
        </p:spPr>
        <p:txBody>
          <a:bodyPr wrap="square" lIns="0" tIns="0" rIns="0" bIns="0" rtlCol="0" anchor="ctr"/>
          <a:lstStyle/>
          <a:p>
            <a:pPr indent="0" marL="0">
              <a:buNone/>
            </a:pPr>
            <a:r>
              <a:rPr lang="en-US" sz="1100" dirty="0">
                <a:solidFill>
                  <a:srgbClr val="F8FAFC"/>
                </a:solidFill>
              </a:rPr>
              <a:t>Interpretable: top TF-IDF words reveal what drives predictions</a:t>
            </a:r>
            <a:endParaRPr lang="en-US" sz="1100" dirty="0"/>
          </a:p>
        </p:txBody>
      </p:sp>
      <p:pic>
        <p:nvPicPr>
          <p:cNvPr id="22" name="Image 3" descr="preencoded.png">    </p:cNvPr>
          <p:cNvPicPr>
            <a:picLocks noChangeAspect="1"/>
          </p:cNvPicPr>
          <p:nvPr/>
        </p:nvPicPr>
        <p:blipFill>
          <a:blip r:embed="rId4"/>
          <a:stretch>
            <a:fillRect/>
          </a:stretch>
        </p:blipFill>
        <p:spPr>
          <a:xfrm>
            <a:off x="274320" y="3968496"/>
            <a:ext cx="256032" cy="256032"/>
          </a:xfrm>
          <a:prstGeom prst="rect">
            <a:avLst/>
          </a:prstGeom>
        </p:spPr>
      </p:pic>
      <p:sp>
        <p:nvSpPr>
          <p:cNvPr id="23" name="Text 17"/>
          <p:cNvSpPr/>
          <p:nvPr/>
        </p:nvSpPr>
        <p:spPr>
          <a:xfrm>
            <a:off x="640080" y="3922776"/>
            <a:ext cx="3474720" cy="347472"/>
          </a:xfrm>
          <a:prstGeom prst="rect">
            <a:avLst/>
          </a:prstGeom>
          <a:noFill/>
          <a:ln/>
        </p:spPr>
        <p:txBody>
          <a:bodyPr wrap="square" lIns="0" tIns="0" rIns="0" bIns="0" rtlCol="0" anchor="ctr"/>
          <a:lstStyle/>
          <a:p>
            <a:pPr indent="0" marL="0">
              <a:buNone/>
            </a:pPr>
            <a:r>
              <a:rPr lang="en-US" sz="1100" dirty="0">
                <a:solidFill>
                  <a:srgbClr val="F8FAFC"/>
                </a:solidFill>
              </a:rPr>
              <a:t>Strong baseline: Macro ROC-AUC ≈ 0.92</a:t>
            </a:r>
            <a:endParaRPr lang="en-US" sz="1100" dirty="0"/>
          </a:p>
        </p:txBody>
      </p:sp>
      <p:sp>
        <p:nvSpPr>
          <p:cNvPr id="24" name="Text 18"/>
          <p:cNvSpPr/>
          <p:nvPr/>
        </p:nvSpPr>
        <p:spPr>
          <a:xfrm>
            <a:off x="4846320" y="2743200"/>
            <a:ext cx="4023360" cy="274320"/>
          </a:xfrm>
          <a:prstGeom prst="rect">
            <a:avLst/>
          </a:prstGeom>
          <a:noFill/>
          <a:ln/>
        </p:spPr>
        <p:txBody>
          <a:bodyPr wrap="square" lIns="0" tIns="0" rIns="0" bIns="0" rtlCol="0" anchor="ctr"/>
          <a:lstStyle/>
          <a:p>
            <a:pPr indent="0" marL="0">
              <a:buNone/>
            </a:pPr>
            <a:r>
              <a:rPr lang="en-US" sz="1200" b="1" dirty="0">
                <a:solidFill>
                  <a:srgbClr val="F43F5E"/>
                </a:solidFill>
              </a:rPr>
              <a:t>Weaknesses</a:t>
            </a:r>
            <a:endParaRPr lang="en-US" sz="1200" dirty="0"/>
          </a:p>
        </p:txBody>
      </p:sp>
      <p:pic>
        <p:nvPicPr>
          <p:cNvPr id="25" name="Image 4" descr="preencoded.png">    </p:cNvPr>
          <p:cNvPicPr>
            <a:picLocks noChangeAspect="1"/>
          </p:cNvPicPr>
          <p:nvPr/>
        </p:nvPicPr>
        <p:blipFill>
          <a:blip r:embed="rId5"/>
          <a:stretch>
            <a:fillRect/>
          </a:stretch>
        </p:blipFill>
        <p:spPr>
          <a:xfrm>
            <a:off x="4846320" y="3090672"/>
            <a:ext cx="256032" cy="256032"/>
          </a:xfrm>
          <a:prstGeom prst="rect">
            <a:avLst/>
          </a:prstGeom>
        </p:spPr>
      </p:pic>
      <p:sp>
        <p:nvSpPr>
          <p:cNvPr id="26" name="Text 19"/>
          <p:cNvSpPr/>
          <p:nvPr/>
        </p:nvSpPr>
        <p:spPr>
          <a:xfrm>
            <a:off x="5212080" y="3044952"/>
            <a:ext cx="3474720" cy="347472"/>
          </a:xfrm>
          <a:prstGeom prst="rect">
            <a:avLst/>
          </a:prstGeom>
          <a:noFill/>
          <a:ln/>
        </p:spPr>
        <p:txBody>
          <a:bodyPr wrap="square" lIns="0" tIns="0" rIns="0" bIns="0" rtlCol="0" anchor="ctr"/>
          <a:lstStyle/>
          <a:p>
            <a:pPr indent="0" marL="0">
              <a:buNone/>
            </a:pPr>
            <a:r>
              <a:rPr lang="en-US" sz="1100" dirty="0">
                <a:solidFill>
                  <a:srgbClr val="F8FAFC"/>
                </a:solidFill>
              </a:rPr>
              <a:t>No word order — misses context &amp; meaning</a:t>
            </a:r>
            <a:endParaRPr lang="en-US" sz="1100" dirty="0"/>
          </a:p>
        </p:txBody>
      </p:sp>
      <p:pic>
        <p:nvPicPr>
          <p:cNvPr id="27" name="Image 5" descr="preencoded.png">    </p:cNvPr>
          <p:cNvPicPr>
            <a:picLocks noChangeAspect="1"/>
          </p:cNvPicPr>
          <p:nvPr/>
        </p:nvPicPr>
        <p:blipFill>
          <a:blip r:embed="rId6"/>
          <a:stretch>
            <a:fillRect/>
          </a:stretch>
        </p:blipFill>
        <p:spPr>
          <a:xfrm>
            <a:off x="4846320" y="3529584"/>
            <a:ext cx="256032" cy="256032"/>
          </a:xfrm>
          <a:prstGeom prst="rect">
            <a:avLst/>
          </a:prstGeom>
        </p:spPr>
      </p:pic>
      <p:sp>
        <p:nvSpPr>
          <p:cNvPr id="28" name="Text 20"/>
          <p:cNvSpPr/>
          <p:nvPr/>
        </p:nvSpPr>
        <p:spPr>
          <a:xfrm>
            <a:off x="5212080" y="3483864"/>
            <a:ext cx="3474720" cy="347472"/>
          </a:xfrm>
          <a:prstGeom prst="rect">
            <a:avLst/>
          </a:prstGeom>
          <a:noFill/>
          <a:ln/>
        </p:spPr>
        <p:txBody>
          <a:bodyPr wrap="square" lIns="0" tIns="0" rIns="0" bIns="0" rtlCol="0" anchor="ctr"/>
          <a:lstStyle/>
          <a:p>
            <a:pPr indent="0" marL="0">
              <a:buNone/>
            </a:pPr>
            <a:r>
              <a:rPr lang="en-US" sz="1100" dirty="0">
                <a:solidFill>
                  <a:srgbClr val="F8FAFC"/>
                </a:solidFill>
              </a:rPr>
              <a:t>Cannot understand sarcasm or negation</a:t>
            </a:r>
            <a:endParaRPr lang="en-US" sz="1100" dirty="0"/>
          </a:p>
        </p:txBody>
      </p:sp>
      <p:pic>
        <p:nvPicPr>
          <p:cNvPr id="29" name="Image 6" descr="preencoded.png">    </p:cNvPr>
          <p:cNvPicPr>
            <a:picLocks noChangeAspect="1"/>
          </p:cNvPicPr>
          <p:nvPr/>
        </p:nvPicPr>
        <p:blipFill>
          <a:blip r:embed="rId7"/>
          <a:stretch>
            <a:fillRect/>
          </a:stretch>
        </p:blipFill>
        <p:spPr>
          <a:xfrm>
            <a:off x="4846320" y="3968496"/>
            <a:ext cx="256032" cy="256032"/>
          </a:xfrm>
          <a:prstGeom prst="rect">
            <a:avLst/>
          </a:prstGeom>
        </p:spPr>
      </p:pic>
      <p:sp>
        <p:nvSpPr>
          <p:cNvPr id="30" name="Text 21"/>
          <p:cNvSpPr/>
          <p:nvPr/>
        </p:nvSpPr>
        <p:spPr>
          <a:xfrm>
            <a:off x="5212080" y="3922776"/>
            <a:ext cx="3474720" cy="347472"/>
          </a:xfrm>
          <a:prstGeom prst="rect">
            <a:avLst/>
          </a:prstGeom>
          <a:noFill/>
          <a:ln/>
        </p:spPr>
        <p:txBody>
          <a:bodyPr wrap="square" lIns="0" tIns="0" rIns="0" bIns="0" rtlCol="0" anchor="ctr"/>
          <a:lstStyle/>
          <a:p>
            <a:pPr indent="0" marL="0">
              <a:buNone/>
            </a:pPr>
            <a:r>
              <a:rPr lang="en-US" sz="1100" dirty="0">
                <a:solidFill>
                  <a:srgbClr val="F8FAFC"/>
                </a:solidFill>
              </a:rPr>
              <a:t>Static vocabulary — out-of-vocab words lost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A855F7"/>
          </a:solidFill>
          <a:ln w="12700">
            <a:solidFill>
              <a:srgbClr val="A855F7"/>
            </a:solidFill>
            <a:prstDash val="solid"/>
          </a:ln>
        </p:spPr>
      </p:sp>
      <p:pic>
        <p:nvPicPr>
          <p:cNvPr id="3" name="Image 0" descr="preencoded.png">    </p:cNvPr>
          <p:cNvPicPr>
            <a:picLocks noChangeAspect="1"/>
          </p:cNvPicPr>
          <p:nvPr/>
        </p:nvPicPr>
        <p:blipFill>
          <a:blip r:embed="rId1"/>
          <a:stretch>
            <a:fillRect/>
          </a:stretch>
        </p:blipFill>
        <p:spPr>
          <a:xfrm>
            <a:off x="274320" y="228600"/>
            <a:ext cx="411480" cy="411480"/>
          </a:xfrm>
          <a:prstGeom prst="rect">
            <a:avLst/>
          </a:prstGeom>
        </p:spPr>
      </p:pic>
      <p:sp>
        <p:nvSpPr>
          <p:cNvPr id="4" name="Text 1"/>
          <p:cNvSpPr/>
          <p:nvPr/>
        </p:nvSpPr>
        <p:spPr>
          <a:xfrm>
            <a:off x="777240" y="256032"/>
            <a:ext cx="8046720" cy="384048"/>
          </a:xfrm>
          <a:prstGeom prst="rect">
            <a:avLst/>
          </a:prstGeom>
          <a:noFill/>
          <a:ln/>
        </p:spPr>
        <p:txBody>
          <a:bodyPr wrap="square" lIns="0" tIns="0" rIns="0" bIns="0" rtlCol="0" anchor="ctr"/>
          <a:lstStyle/>
          <a:p>
            <a:pPr indent="0" marL="0">
              <a:buNone/>
            </a:pPr>
            <a:r>
              <a:rPr lang="en-US" sz="2200" b="1" dirty="0">
                <a:solidFill>
                  <a:srgbClr val="F8FAFC"/>
                </a:solidFill>
              </a:rPr>
              <a:t>Deep Learning Architecture: PyTorch BiLSTM</a:t>
            </a:r>
            <a:endParaRPr lang="en-US" sz="2200" dirty="0"/>
          </a:p>
        </p:txBody>
      </p:sp>
      <p:sp>
        <p:nvSpPr>
          <p:cNvPr id="5" name="Shape 2"/>
          <p:cNvSpPr/>
          <p:nvPr/>
        </p:nvSpPr>
        <p:spPr>
          <a:xfrm>
            <a:off x="274320" y="713232"/>
            <a:ext cx="8595360" cy="36576"/>
          </a:xfrm>
          <a:prstGeom prst="rect">
            <a:avLst/>
          </a:prstGeom>
          <a:solidFill>
            <a:srgbClr val="1E293B"/>
          </a:solidFill>
          <a:ln w="12700">
            <a:solidFill>
              <a:srgbClr val="1E293B"/>
            </a:solidFill>
            <a:prstDash val="solid"/>
          </a:ln>
        </p:spPr>
      </p:sp>
      <p:sp>
        <p:nvSpPr>
          <p:cNvPr id="6" name="Shape 3"/>
          <p:cNvSpPr/>
          <p:nvPr/>
        </p:nvSpPr>
        <p:spPr>
          <a:xfrm>
            <a:off x="5212080" y="914400"/>
            <a:ext cx="2286000" cy="566928"/>
          </a:xfrm>
          <a:prstGeom prst="rect">
            <a:avLst/>
          </a:prstGeom>
          <a:solidFill>
            <a:srgbClr val="1E293B"/>
          </a:solidFill>
          <a:ln w="12700">
            <a:solidFill>
              <a:srgbClr val="94A3B8"/>
            </a:solidFill>
            <a:prstDash val="solid"/>
          </a:ln>
          <a:effectLst>
            <a:outerShdw sx="100000" sy="100000" kx="0" ky="0" algn="bl" rotWithShape="0" blurRad="101600" dist="38100" dir="8100000">
              <a:srgbClr val="000000">
                <a:alpha val="25000"/>
              </a:srgbClr>
            </a:outerShdw>
          </a:effectLst>
        </p:spPr>
      </p:sp>
      <p:sp>
        <p:nvSpPr>
          <p:cNvPr id="7" name="Shape 4"/>
          <p:cNvSpPr/>
          <p:nvPr/>
        </p:nvSpPr>
        <p:spPr>
          <a:xfrm>
            <a:off x="5212080" y="914400"/>
            <a:ext cx="54864" cy="566928"/>
          </a:xfrm>
          <a:prstGeom prst="rect">
            <a:avLst/>
          </a:prstGeom>
          <a:solidFill>
            <a:srgbClr val="94A3B8"/>
          </a:solidFill>
          <a:ln w="12700">
            <a:solidFill>
              <a:srgbClr val="94A3B8"/>
            </a:solidFill>
            <a:prstDash val="solid"/>
          </a:ln>
        </p:spPr>
      </p:sp>
      <p:sp>
        <p:nvSpPr>
          <p:cNvPr id="8" name="Text 5"/>
          <p:cNvSpPr/>
          <p:nvPr/>
        </p:nvSpPr>
        <p:spPr>
          <a:xfrm>
            <a:off x="5376672" y="950976"/>
            <a:ext cx="2103120" cy="256032"/>
          </a:xfrm>
          <a:prstGeom prst="rect">
            <a:avLst/>
          </a:prstGeom>
          <a:noFill/>
          <a:ln/>
        </p:spPr>
        <p:txBody>
          <a:bodyPr wrap="square" lIns="0" tIns="0" rIns="0" bIns="0" rtlCol="0" anchor="ctr"/>
          <a:lstStyle/>
          <a:p>
            <a:pPr indent="0" marL="0">
              <a:buNone/>
            </a:pPr>
            <a:r>
              <a:rPr lang="en-US" sz="1100" b="1" dirty="0">
                <a:solidFill>
                  <a:srgbClr val="F8FAFC"/>
                </a:solidFill>
              </a:rPr>
              <a:t>Input Tokens</a:t>
            </a:r>
            <a:endParaRPr lang="en-US" sz="1100" dirty="0"/>
          </a:p>
        </p:txBody>
      </p:sp>
      <p:sp>
        <p:nvSpPr>
          <p:cNvPr id="9" name="Text 6"/>
          <p:cNvSpPr/>
          <p:nvPr/>
        </p:nvSpPr>
        <p:spPr>
          <a:xfrm>
            <a:off x="5376672" y="1207008"/>
            <a:ext cx="2103120" cy="219456"/>
          </a:xfrm>
          <a:prstGeom prst="rect">
            <a:avLst/>
          </a:prstGeom>
          <a:noFill/>
          <a:ln/>
        </p:spPr>
        <p:txBody>
          <a:bodyPr wrap="square" lIns="0" tIns="0" rIns="0" bIns="0" rtlCol="0" anchor="ctr"/>
          <a:lstStyle/>
          <a:p>
            <a:pPr indent="0" marL="0">
              <a:buNone/>
            </a:pPr>
            <a:r>
              <a:rPr lang="en-US" sz="900" dirty="0">
                <a:solidFill>
                  <a:srgbClr val="94A3B8"/>
                </a:solidFill>
              </a:rPr>
              <a:t>seq_len = 100</a:t>
            </a:r>
            <a:endParaRPr lang="en-US" sz="900" dirty="0"/>
          </a:p>
        </p:txBody>
      </p:sp>
      <p:sp>
        <p:nvSpPr>
          <p:cNvPr id="10" name="Shape 7"/>
          <p:cNvSpPr/>
          <p:nvPr/>
        </p:nvSpPr>
        <p:spPr>
          <a:xfrm>
            <a:off x="6309360" y="1481328"/>
            <a:ext cx="45720" cy="210312"/>
          </a:xfrm>
          <a:prstGeom prst="rect">
            <a:avLst/>
          </a:prstGeom>
          <a:solidFill>
            <a:srgbClr val="94A3B8"/>
          </a:solidFill>
          <a:ln w="12700">
            <a:solidFill>
              <a:srgbClr val="94A3B8"/>
            </a:solidFill>
            <a:prstDash val="solid"/>
          </a:ln>
        </p:spPr>
      </p:sp>
      <p:sp>
        <p:nvSpPr>
          <p:cNvPr id="11" name="Shape 8"/>
          <p:cNvSpPr/>
          <p:nvPr/>
        </p:nvSpPr>
        <p:spPr>
          <a:xfrm>
            <a:off x="5212080" y="1691640"/>
            <a:ext cx="2286000" cy="566928"/>
          </a:xfrm>
          <a:prstGeom prst="rect">
            <a:avLst/>
          </a:prstGeom>
          <a:solidFill>
            <a:srgbClr val="1E293B"/>
          </a:solidFill>
          <a:ln w="12700">
            <a:solidFill>
              <a:srgbClr val="0D9488"/>
            </a:solidFill>
            <a:prstDash val="solid"/>
          </a:ln>
          <a:effectLst>
            <a:outerShdw sx="100000" sy="100000" kx="0" ky="0" algn="bl" rotWithShape="0" blurRad="101600" dist="38100" dir="8100000">
              <a:srgbClr val="000000">
                <a:alpha val="25000"/>
              </a:srgbClr>
            </a:outerShdw>
          </a:effectLst>
        </p:spPr>
      </p:sp>
      <p:sp>
        <p:nvSpPr>
          <p:cNvPr id="12" name="Shape 9"/>
          <p:cNvSpPr/>
          <p:nvPr/>
        </p:nvSpPr>
        <p:spPr>
          <a:xfrm>
            <a:off x="5212080" y="1691640"/>
            <a:ext cx="54864" cy="566928"/>
          </a:xfrm>
          <a:prstGeom prst="rect">
            <a:avLst/>
          </a:prstGeom>
          <a:solidFill>
            <a:srgbClr val="0D9488"/>
          </a:solidFill>
          <a:ln w="12700">
            <a:solidFill>
              <a:srgbClr val="0D9488"/>
            </a:solidFill>
            <a:prstDash val="solid"/>
          </a:ln>
        </p:spPr>
      </p:sp>
      <p:sp>
        <p:nvSpPr>
          <p:cNvPr id="13" name="Text 10"/>
          <p:cNvSpPr/>
          <p:nvPr/>
        </p:nvSpPr>
        <p:spPr>
          <a:xfrm>
            <a:off x="5376672" y="1728216"/>
            <a:ext cx="2103120" cy="256032"/>
          </a:xfrm>
          <a:prstGeom prst="rect">
            <a:avLst/>
          </a:prstGeom>
          <a:noFill/>
          <a:ln/>
        </p:spPr>
        <p:txBody>
          <a:bodyPr wrap="square" lIns="0" tIns="0" rIns="0" bIns="0" rtlCol="0" anchor="ctr"/>
          <a:lstStyle/>
          <a:p>
            <a:pPr indent="0" marL="0">
              <a:buNone/>
            </a:pPr>
            <a:r>
              <a:rPr lang="en-US" sz="1100" b="1" dirty="0">
                <a:solidFill>
                  <a:srgbClr val="F8FAFC"/>
                </a:solidFill>
              </a:rPr>
              <a:t>Embedding Layer</a:t>
            </a:r>
            <a:endParaRPr lang="en-US" sz="1100" dirty="0"/>
          </a:p>
        </p:txBody>
      </p:sp>
      <p:sp>
        <p:nvSpPr>
          <p:cNvPr id="14" name="Text 11"/>
          <p:cNvSpPr/>
          <p:nvPr/>
        </p:nvSpPr>
        <p:spPr>
          <a:xfrm>
            <a:off x="5376672" y="1984248"/>
            <a:ext cx="2103120" cy="219456"/>
          </a:xfrm>
          <a:prstGeom prst="rect">
            <a:avLst/>
          </a:prstGeom>
          <a:noFill/>
          <a:ln/>
        </p:spPr>
        <p:txBody>
          <a:bodyPr wrap="square" lIns="0" tIns="0" rIns="0" bIns="0" rtlCol="0" anchor="ctr"/>
          <a:lstStyle/>
          <a:p>
            <a:pPr indent="0" marL="0">
              <a:buNone/>
            </a:pPr>
            <a:r>
              <a:rPr lang="en-US" sz="900" dirty="0">
                <a:solidFill>
                  <a:srgbClr val="94A3B8"/>
                </a:solidFill>
              </a:rPr>
              <a:t>vocab=15K  |  dim=128</a:t>
            </a:r>
            <a:endParaRPr lang="en-US" sz="900" dirty="0"/>
          </a:p>
        </p:txBody>
      </p:sp>
      <p:sp>
        <p:nvSpPr>
          <p:cNvPr id="15" name="Shape 12"/>
          <p:cNvSpPr/>
          <p:nvPr/>
        </p:nvSpPr>
        <p:spPr>
          <a:xfrm>
            <a:off x="6309360" y="2258568"/>
            <a:ext cx="45720" cy="210312"/>
          </a:xfrm>
          <a:prstGeom prst="rect">
            <a:avLst/>
          </a:prstGeom>
          <a:solidFill>
            <a:srgbClr val="94A3B8"/>
          </a:solidFill>
          <a:ln w="12700">
            <a:solidFill>
              <a:srgbClr val="94A3B8"/>
            </a:solidFill>
            <a:prstDash val="solid"/>
          </a:ln>
        </p:spPr>
      </p:sp>
      <p:sp>
        <p:nvSpPr>
          <p:cNvPr id="16" name="Shape 13"/>
          <p:cNvSpPr/>
          <p:nvPr/>
        </p:nvSpPr>
        <p:spPr>
          <a:xfrm>
            <a:off x="5212080" y="2468880"/>
            <a:ext cx="2286000" cy="566928"/>
          </a:xfrm>
          <a:prstGeom prst="rect">
            <a:avLst/>
          </a:prstGeom>
          <a:solidFill>
            <a:srgbClr val="1E293B"/>
          </a:solidFill>
          <a:ln w="12700">
            <a:solidFill>
              <a:srgbClr val="A855F7"/>
            </a:solidFill>
            <a:prstDash val="solid"/>
          </a:ln>
          <a:effectLst>
            <a:outerShdw sx="100000" sy="100000" kx="0" ky="0" algn="bl" rotWithShape="0" blurRad="101600" dist="38100" dir="8100000">
              <a:srgbClr val="000000">
                <a:alpha val="25000"/>
              </a:srgbClr>
            </a:outerShdw>
          </a:effectLst>
        </p:spPr>
      </p:sp>
      <p:sp>
        <p:nvSpPr>
          <p:cNvPr id="17" name="Shape 14"/>
          <p:cNvSpPr/>
          <p:nvPr/>
        </p:nvSpPr>
        <p:spPr>
          <a:xfrm>
            <a:off x="5212080" y="2468880"/>
            <a:ext cx="54864" cy="566928"/>
          </a:xfrm>
          <a:prstGeom prst="rect">
            <a:avLst/>
          </a:prstGeom>
          <a:solidFill>
            <a:srgbClr val="A855F7"/>
          </a:solidFill>
          <a:ln w="12700">
            <a:solidFill>
              <a:srgbClr val="A855F7"/>
            </a:solidFill>
            <a:prstDash val="solid"/>
          </a:ln>
        </p:spPr>
      </p:sp>
      <p:sp>
        <p:nvSpPr>
          <p:cNvPr id="18" name="Text 15"/>
          <p:cNvSpPr/>
          <p:nvPr/>
        </p:nvSpPr>
        <p:spPr>
          <a:xfrm>
            <a:off x="5376672" y="2505456"/>
            <a:ext cx="2103120" cy="256032"/>
          </a:xfrm>
          <a:prstGeom prst="rect">
            <a:avLst/>
          </a:prstGeom>
          <a:noFill/>
          <a:ln/>
        </p:spPr>
        <p:txBody>
          <a:bodyPr wrap="square" lIns="0" tIns="0" rIns="0" bIns="0" rtlCol="0" anchor="ctr"/>
          <a:lstStyle/>
          <a:p>
            <a:pPr indent="0" marL="0">
              <a:buNone/>
            </a:pPr>
            <a:r>
              <a:rPr lang="en-US" sz="1100" b="1" dirty="0">
                <a:solidFill>
                  <a:srgbClr val="F8FAFC"/>
                </a:solidFill>
              </a:rPr>
              <a:t>Bidirectional LSTM</a:t>
            </a:r>
            <a:endParaRPr lang="en-US" sz="1100" dirty="0"/>
          </a:p>
        </p:txBody>
      </p:sp>
      <p:sp>
        <p:nvSpPr>
          <p:cNvPr id="19" name="Text 16"/>
          <p:cNvSpPr/>
          <p:nvPr/>
        </p:nvSpPr>
        <p:spPr>
          <a:xfrm>
            <a:off x="5376672" y="2761488"/>
            <a:ext cx="2103120" cy="219456"/>
          </a:xfrm>
          <a:prstGeom prst="rect">
            <a:avLst/>
          </a:prstGeom>
          <a:noFill/>
          <a:ln/>
        </p:spPr>
        <p:txBody>
          <a:bodyPr wrap="square" lIns="0" tIns="0" rIns="0" bIns="0" rtlCol="0" anchor="ctr"/>
          <a:lstStyle/>
          <a:p>
            <a:pPr indent="0" marL="0">
              <a:buNone/>
            </a:pPr>
            <a:r>
              <a:rPr lang="en-US" sz="900" dirty="0">
                <a:solidFill>
                  <a:srgbClr val="94A3B8"/>
                </a:solidFill>
              </a:rPr>
              <a:t>hidden=64  |  2×dirs</a:t>
            </a:r>
            <a:endParaRPr lang="en-US" sz="900" dirty="0"/>
          </a:p>
        </p:txBody>
      </p:sp>
      <p:sp>
        <p:nvSpPr>
          <p:cNvPr id="20" name="Shape 17"/>
          <p:cNvSpPr/>
          <p:nvPr/>
        </p:nvSpPr>
        <p:spPr>
          <a:xfrm>
            <a:off x="6309360" y="3035808"/>
            <a:ext cx="45720" cy="210312"/>
          </a:xfrm>
          <a:prstGeom prst="rect">
            <a:avLst/>
          </a:prstGeom>
          <a:solidFill>
            <a:srgbClr val="94A3B8"/>
          </a:solidFill>
          <a:ln w="12700">
            <a:solidFill>
              <a:srgbClr val="94A3B8"/>
            </a:solidFill>
            <a:prstDash val="solid"/>
          </a:ln>
        </p:spPr>
      </p:sp>
      <p:sp>
        <p:nvSpPr>
          <p:cNvPr id="21" name="Shape 18"/>
          <p:cNvSpPr/>
          <p:nvPr/>
        </p:nvSpPr>
        <p:spPr>
          <a:xfrm>
            <a:off x="5212080" y="3246120"/>
            <a:ext cx="2286000" cy="566928"/>
          </a:xfrm>
          <a:prstGeom prst="rect">
            <a:avLst/>
          </a:prstGeom>
          <a:solidFill>
            <a:srgbClr val="1E293B"/>
          </a:solidFill>
          <a:ln w="12700">
            <a:solidFill>
              <a:srgbClr val="F59E0B"/>
            </a:solidFill>
            <a:prstDash val="solid"/>
          </a:ln>
          <a:effectLst>
            <a:outerShdw sx="100000" sy="100000" kx="0" ky="0" algn="bl" rotWithShape="0" blurRad="101600" dist="38100" dir="8100000">
              <a:srgbClr val="000000">
                <a:alpha val="25000"/>
              </a:srgbClr>
            </a:outerShdw>
          </a:effectLst>
        </p:spPr>
      </p:sp>
      <p:sp>
        <p:nvSpPr>
          <p:cNvPr id="22" name="Shape 19"/>
          <p:cNvSpPr/>
          <p:nvPr/>
        </p:nvSpPr>
        <p:spPr>
          <a:xfrm>
            <a:off x="5212080" y="3246120"/>
            <a:ext cx="54864" cy="566928"/>
          </a:xfrm>
          <a:prstGeom prst="rect">
            <a:avLst/>
          </a:prstGeom>
          <a:solidFill>
            <a:srgbClr val="F59E0B"/>
          </a:solidFill>
          <a:ln w="12700">
            <a:solidFill>
              <a:srgbClr val="F59E0B"/>
            </a:solidFill>
            <a:prstDash val="solid"/>
          </a:ln>
        </p:spPr>
      </p:sp>
      <p:sp>
        <p:nvSpPr>
          <p:cNvPr id="23" name="Text 20"/>
          <p:cNvSpPr/>
          <p:nvPr/>
        </p:nvSpPr>
        <p:spPr>
          <a:xfrm>
            <a:off x="5376672" y="3282696"/>
            <a:ext cx="2103120" cy="256032"/>
          </a:xfrm>
          <a:prstGeom prst="rect">
            <a:avLst/>
          </a:prstGeom>
          <a:noFill/>
          <a:ln/>
        </p:spPr>
        <p:txBody>
          <a:bodyPr wrap="square" lIns="0" tIns="0" rIns="0" bIns="0" rtlCol="0" anchor="ctr"/>
          <a:lstStyle/>
          <a:p>
            <a:pPr indent="0" marL="0">
              <a:buNone/>
            </a:pPr>
            <a:r>
              <a:rPr lang="en-US" sz="1100" b="1" dirty="0">
                <a:solidFill>
                  <a:srgbClr val="F8FAFC"/>
                </a:solidFill>
              </a:rPr>
              <a:t>Linear Layer</a:t>
            </a:r>
            <a:endParaRPr lang="en-US" sz="1100" dirty="0"/>
          </a:p>
        </p:txBody>
      </p:sp>
      <p:sp>
        <p:nvSpPr>
          <p:cNvPr id="24" name="Text 21"/>
          <p:cNvSpPr/>
          <p:nvPr/>
        </p:nvSpPr>
        <p:spPr>
          <a:xfrm>
            <a:off x="5376672" y="3538728"/>
            <a:ext cx="2103120" cy="219456"/>
          </a:xfrm>
          <a:prstGeom prst="rect">
            <a:avLst/>
          </a:prstGeom>
          <a:noFill/>
          <a:ln/>
        </p:spPr>
        <p:txBody>
          <a:bodyPr wrap="square" lIns="0" tIns="0" rIns="0" bIns="0" rtlCol="0" anchor="ctr"/>
          <a:lstStyle/>
          <a:p>
            <a:pPr indent="0" marL="0">
              <a:buNone/>
            </a:pPr>
            <a:r>
              <a:rPr lang="en-US" sz="900" dirty="0">
                <a:solidFill>
                  <a:srgbClr val="94A3B8"/>
                </a:solidFill>
              </a:rPr>
              <a:t>output = 6 logits</a:t>
            </a:r>
            <a:endParaRPr lang="en-US" sz="900" dirty="0"/>
          </a:p>
        </p:txBody>
      </p:sp>
      <p:sp>
        <p:nvSpPr>
          <p:cNvPr id="25" name="Shape 22"/>
          <p:cNvSpPr/>
          <p:nvPr/>
        </p:nvSpPr>
        <p:spPr>
          <a:xfrm>
            <a:off x="6309360" y="3813048"/>
            <a:ext cx="45720" cy="210312"/>
          </a:xfrm>
          <a:prstGeom prst="rect">
            <a:avLst/>
          </a:prstGeom>
          <a:solidFill>
            <a:srgbClr val="94A3B8"/>
          </a:solidFill>
          <a:ln w="12700">
            <a:solidFill>
              <a:srgbClr val="94A3B8"/>
            </a:solidFill>
            <a:prstDash val="solid"/>
          </a:ln>
        </p:spPr>
      </p:sp>
      <p:sp>
        <p:nvSpPr>
          <p:cNvPr id="26" name="Shape 23"/>
          <p:cNvSpPr/>
          <p:nvPr/>
        </p:nvSpPr>
        <p:spPr>
          <a:xfrm>
            <a:off x="5212080" y="4023360"/>
            <a:ext cx="2286000" cy="566928"/>
          </a:xfrm>
          <a:prstGeom prst="rect">
            <a:avLst/>
          </a:prstGeom>
          <a:solidFill>
            <a:srgbClr val="1E293B"/>
          </a:solidFill>
          <a:ln w="12700">
            <a:solidFill>
              <a:srgbClr val="F43F5E"/>
            </a:solidFill>
            <a:prstDash val="solid"/>
          </a:ln>
          <a:effectLst>
            <a:outerShdw sx="100000" sy="100000" kx="0" ky="0" algn="bl" rotWithShape="0" blurRad="101600" dist="38100" dir="8100000">
              <a:srgbClr val="000000">
                <a:alpha val="25000"/>
              </a:srgbClr>
            </a:outerShdw>
          </a:effectLst>
        </p:spPr>
      </p:sp>
      <p:sp>
        <p:nvSpPr>
          <p:cNvPr id="27" name="Shape 24"/>
          <p:cNvSpPr/>
          <p:nvPr/>
        </p:nvSpPr>
        <p:spPr>
          <a:xfrm>
            <a:off x="5212080" y="4023360"/>
            <a:ext cx="54864" cy="566928"/>
          </a:xfrm>
          <a:prstGeom prst="rect">
            <a:avLst/>
          </a:prstGeom>
          <a:solidFill>
            <a:srgbClr val="F43F5E"/>
          </a:solidFill>
          <a:ln w="12700">
            <a:solidFill>
              <a:srgbClr val="F43F5E"/>
            </a:solidFill>
            <a:prstDash val="solid"/>
          </a:ln>
        </p:spPr>
      </p:sp>
      <p:sp>
        <p:nvSpPr>
          <p:cNvPr id="28" name="Text 25"/>
          <p:cNvSpPr/>
          <p:nvPr/>
        </p:nvSpPr>
        <p:spPr>
          <a:xfrm>
            <a:off x="5376672" y="4059936"/>
            <a:ext cx="2103120" cy="256032"/>
          </a:xfrm>
          <a:prstGeom prst="rect">
            <a:avLst/>
          </a:prstGeom>
          <a:noFill/>
          <a:ln/>
        </p:spPr>
        <p:txBody>
          <a:bodyPr wrap="square" lIns="0" tIns="0" rIns="0" bIns="0" rtlCol="0" anchor="ctr"/>
          <a:lstStyle/>
          <a:p>
            <a:pPr indent="0" marL="0">
              <a:buNone/>
            </a:pPr>
            <a:r>
              <a:rPr lang="en-US" sz="1100" b="1" dirty="0">
                <a:solidFill>
                  <a:srgbClr val="F8FAFC"/>
                </a:solidFill>
              </a:rPr>
              <a:t>BCEWithLogitsLoss</a:t>
            </a:r>
            <a:endParaRPr lang="en-US" sz="1100" dirty="0"/>
          </a:p>
        </p:txBody>
      </p:sp>
      <p:sp>
        <p:nvSpPr>
          <p:cNvPr id="29" name="Text 26"/>
          <p:cNvSpPr/>
          <p:nvPr/>
        </p:nvSpPr>
        <p:spPr>
          <a:xfrm>
            <a:off x="5376672" y="4315968"/>
            <a:ext cx="2103120" cy="219456"/>
          </a:xfrm>
          <a:prstGeom prst="rect">
            <a:avLst/>
          </a:prstGeom>
          <a:noFill/>
          <a:ln/>
        </p:spPr>
        <p:txBody>
          <a:bodyPr wrap="square" lIns="0" tIns="0" rIns="0" bIns="0" rtlCol="0" anchor="ctr"/>
          <a:lstStyle/>
          <a:p>
            <a:pPr indent="0" marL="0">
              <a:buNone/>
            </a:pPr>
            <a:r>
              <a:rPr lang="en-US" sz="900" dirty="0">
                <a:solidFill>
                  <a:srgbClr val="94A3B8"/>
                </a:solidFill>
              </a:rPr>
              <a:t>sigmoid + BCE per class</a:t>
            </a:r>
            <a:endParaRPr lang="en-US" sz="900" dirty="0"/>
          </a:p>
        </p:txBody>
      </p:sp>
      <p:sp>
        <p:nvSpPr>
          <p:cNvPr id="30" name="Shape 27"/>
          <p:cNvSpPr/>
          <p:nvPr/>
        </p:nvSpPr>
        <p:spPr>
          <a:xfrm>
            <a:off x="274320" y="914400"/>
            <a:ext cx="4572000" cy="7772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31" name="Shape 28"/>
          <p:cNvSpPr/>
          <p:nvPr/>
        </p:nvSpPr>
        <p:spPr>
          <a:xfrm>
            <a:off x="274320" y="914400"/>
            <a:ext cx="73152" cy="777240"/>
          </a:xfrm>
          <a:prstGeom prst="rect">
            <a:avLst/>
          </a:prstGeom>
          <a:solidFill>
            <a:srgbClr val="0D9488"/>
          </a:solidFill>
          <a:ln w="12700">
            <a:solidFill>
              <a:srgbClr val="0D9488"/>
            </a:solidFill>
            <a:prstDash val="solid"/>
          </a:ln>
        </p:spPr>
      </p:sp>
      <p:sp>
        <p:nvSpPr>
          <p:cNvPr id="32" name="Text 29"/>
          <p:cNvSpPr/>
          <p:nvPr/>
        </p:nvSpPr>
        <p:spPr>
          <a:xfrm>
            <a:off x="475488" y="969264"/>
            <a:ext cx="4206240" cy="274320"/>
          </a:xfrm>
          <a:prstGeom prst="rect">
            <a:avLst/>
          </a:prstGeom>
          <a:noFill/>
          <a:ln/>
        </p:spPr>
        <p:txBody>
          <a:bodyPr wrap="square" lIns="0" tIns="0" rIns="0" bIns="0" rtlCol="0" anchor="ctr"/>
          <a:lstStyle/>
          <a:p>
            <a:pPr indent="0" marL="0">
              <a:buNone/>
            </a:pPr>
            <a:r>
              <a:rPr lang="en-US" sz="1200" b="1" dirty="0">
                <a:solidFill>
                  <a:srgbClr val="F8FAFC"/>
                </a:solidFill>
              </a:rPr>
              <a:t>Vocab: 15,000 tokens</a:t>
            </a:r>
            <a:endParaRPr lang="en-US" sz="1200" dirty="0"/>
          </a:p>
        </p:txBody>
      </p:sp>
      <p:sp>
        <p:nvSpPr>
          <p:cNvPr id="33" name="Text 30"/>
          <p:cNvSpPr/>
          <p:nvPr/>
        </p:nvSpPr>
        <p:spPr>
          <a:xfrm>
            <a:off x="475488" y="1261872"/>
            <a:ext cx="4206240" cy="329184"/>
          </a:xfrm>
          <a:prstGeom prst="rect">
            <a:avLst/>
          </a:prstGeom>
          <a:noFill/>
          <a:ln/>
        </p:spPr>
        <p:txBody>
          <a:bodyPr wrap="square" lIns="0" tIns="0" rIns="0" bIns="0" rtlCol="0" anchor="ctr"/>
          <a:lstStyle/>
          <a:p>
            <a:pPr indent="0" marL="0">
              <a:buNone/>
            </a:pPr>
            <a:r>
              <a:rPr lang="en-US" sz="1000" dirty="0">
                <a:solidFill>
                  <a:srgbClr val="94A3B8"/>
                </a:solidFill>
              </a:rPr>
              <a:t>Larger than baseline — captures more rare toxic terms</a:t>
            </a:r>
            <a:endParaRPr lang="en-US" sz="1000" dirty="0"/>
          </a:p>
        </p:txBody>
      </p:sp>
      <p:sp>
        <p:nvSpPr>
          <p:cNvPr id="34" name="Shape 31"/>
          <p:cNvSpPr/>
          <p:nvPr/>
        </p:nvSpPr>
        <p:spPr>
          <a:xfrm>
            <a:off x="274320" y="1920240"/>
            <a:ext cx="4572000" cy="7772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35" name="Shape 32"/>
          <p:cNvSpPr/>
          <p:nvPr/>
        </p:nvSpPr>
        <p:spPr>
          <a:xfrm>
            <a:off x="274320" y="1920240"/>
            <a:ext cx="73152" cy="777240"/>
          </a:xfrm>
          <a:prstGeom prst="rect">
            <a:avLst/>
          </a:prstGeom>
          <a:solidFill>
            <a:srgbClr val="A855F7"/>
          </a:solidFill>
          <a:ln w="12700">
            <a:solidFill>
              <a:srgbClr val="A855F7"/>
            </a:solidFill>
            <a:prstDash val="solid"/>
          </a:ln>
        </p:spPr>
      </p:sp>
      <p:sp>
        <p:nvSpPr>
          <p:cNvPr id="36" name="Text 33"/>
          <p:cNvSpPr/>
          <p:nvPr/>
        </p:nvSpPr>
        <p:spPr>
          <a:xfrm>
            <a:off x="475488" y="1975104"/>
            <a:ext cx="4206240" cy="274320"/>
          </a:xfrm>
          <a:prstGeom prst="rect">
            <a:avLst/>
          </a:prstGeom>
          <a:noFill/>
          <a:ln/>
        </p:spPr>
        <p:txBody>
          <a:bodyPr wrap="square" lIns="0" tIns="0" rIns="0" bIns="0" rtlCol="0" anchor="ctr"/>
          <a:lstStyle/>
          <a:p>
            <a:pPr indent="0" marL="0">
              <a:buNone/>
            </a:pPr>
            <a:r>
              <a:rPr lang="en-US" sz="1200" b="1" dirty="0">
                <a:solidFill>
                  <a:srgbClr val="F8FAFC"/>
                </a:solidFill>
              </a:rPr>
              <a:t>Bidirectional LSTM</a:t>
            </a:r>
            <a:endParaRPr lang="en-US" sz="1200" dirty="0"/>
          </a:p>
        </p:txBody>
      </p:sp>
      <p:sp>
        <p:nvSpPr>
          <p:cNvPr id="37" name="Text 34"/>
          <p:cNvSpPr/>
          <p:nvPr/>
        </p:nvSpPr>
        <p:spPr>
          <a:xfrm>
            <a:off x="475488" y="2267712"/>
            <a:ext cx="4206240" cy="329184"/>
          </a:xfrm>
          <a:prstGeom prst="rect">
            <a:avLst/>
          </a:prstGeom>
          <a:noFill/>
          <a:ln/>
        </p:spPr>
        <p:txBody>
          <a:bodyPr wrap="square" lIns="0" tIns="0" rIns="0" bIns="0" rtlCol="0" anchor="ctr"/>
          <a:lstStyle/>
          <a:p>
            <a:pPr indent="0" marL="0">
              <a:buNone/>
            </a:pPr>
            <a:r>
              <a:rPr lang="en-US" sz="1000" dirty="0">
                <a:solidFill>
                  <a:srgbClr val="94A3B8"/>
                </a:solidFill>
              </a:rPr>
              <a:t>Reads text left→right AND right→left for full context</a:t>
            </a:r>
            <a:endParaRPr lang="en-US" sz="1000" dirty="0"/>
          </a:p>
        </p:txBody>
      </p:sp>
      <p:sp>
        <p:nvSpPr>
          <p:cNvPr id="38" name="Shape 35"/>
          <p:cNvSpPr/>
          <p:nvPr/>
        </p:nvSpPr>
        <p:spPr>
          <a:xfrm>
            <a:off x="274320" y="2926080"/>
            <a:ext cx="4572000" cy="7772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39" name="Shape 36"/>
          <p:cNvSpPr/>
          <p:nvPr/>
        </p:nvSpPr>
        <p:spPr>
          <a:xfrm>
            <a:off x="274320" y="2926080"/>
            <a:ext cx="73152" cy="777240"/>
          </a:xfrm>
          <a:prstGeom prst="rect">
            <a:avLst/>
          </a:prstGeom>
          <a:solidFill>
            <a:srgbClr val="F59E0B"/>
          </a:solidFill>
          <a:ln w="12700">
            <a:solidFill>
              <a:srgbClr val="F59E0B"/>
            </a:solidFill>
            <a:prstDash val="solid"/>
          </a:ln>
        </p:spPr>
      </p:sp>
      <p:sp>
        <p:nvSpPr>
          <p:cNvPr id="40" name="Text 37"/>
          <p:cNvSpPr/>
          <p:nvPr/>
        </p:nvSpPr>
        <p:spPr>
          <a:xfrm>
            <a:off x="475488" y="2980944"/>
            <a:ext cx="4206240" cy="274320"/>
          </a:xfrm>
          <a:prstGeom prst="rect">
            <a:avLst/>
          </a:prstGeom>
          <a:noFill/>
          <a:ln/>
        </p:spPr>
        <p:txBody>
          <a:bodyPr wrap="square" lIns="0" tIns="0" rIns="0" bIns="0" rtlCol="0" anchor="ctr"/>
          <a:lstStyle/>
          <a:p>
            <a:pPr indent="0" marL="0">
              <a:buNone/>
            </a:pPr>
            <a:r>
              <a:rPr lang="en-US" sz="1200" b="1" dirty="0">
                <a:solidFill>
                  <a:srgbClr val="F8FAFC"/>
                </a:solidFill>
              </a:rPr>
              <a:t>Optimizer: Adam</a:t>
            </a:r>
            <a:endParaRPr lang="en-US" sz="1200" dirty="0"/>
          </a:p>
        </p:txBody>
      </p:sp>
      <p:sp>
        <p:nvSpPr>
          <p:cNvPr id="41" name="Text 38"/>
          <p:cNvSpPr/>
          <p:nvPr/>
        </p:nvSpPr>
        <p:spPr>
          <a:xfrm>
            <a:off x="475488" y="3273552"/>
            <a:ext cx="4206240" cy="329184"/>
          </a:xfrm>
          <a:prstGeom prst="rect">
            <a:avLst/>
          </a:prstGeom>
          <a:noFill/>
          <a:ln/>
        </p:spPr>
        <p:txBody>
          <a:bodyPr wrap="square" lIns="0" tIns="0" rIns="0" bIns="0" rtlCol="0" anchor="ctr"/>
          <a:lstStyle/>
          <a:p>
            <a:pPr indent="0" marL="0">
              <a:buNone/>
            </a:pPr>
            <a:r>
              <a:rPr lang="en-US" sz="1000" dirty="0">
                <a:solidFill>
                  <a:srgbClr val="94A3B8"/>
                </a:solidFill>
              </a:rPr>
              <a:t>Adaptive learning rate, fast convergence</a:t>
            </a:r>
            <a:endParaRPr lang="en-US" sz="1000" dirty="0"/>
          </a:p>
        </p:txBody>
      </p:sp>
      <p:sp>
        <p:nvSpPr>
          <p:cNvPr id="42" name="Shape 39"/>
          <p:cNvSpPr/>
          <p:nvPr/>
        </p:nvSpPr>
        <p:spPr>
          <a:xfrm>
            <a:off x="274320" y="3931920"/>
            <a:ext cx="4572000" cy="77724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43" name="Shape 40"/>
          <p:cNvSpPr/>
          <p:nvPr/>
        </p:nvSpPr>
        <p:spPr>
          <a:xfrm>
            <a:off x="274320" y="3931920"/>
            <a:ext cx="73152" cy="777240"/>
          </a:xfrm>
          <a:prstGeom prst="rect">
            <a:avLst/>
          </a:prstGeom>
          <a:solidFill>
            <a:srgbClr val="22C55E"/>
          </a:solidFill>
          <a:ln w="12700">
            <a:solidFill>
              <a:srgbClr val="22C55E"/>
            </a:solidFill>
            <a:prstDash val="solid"/>
          </a:ln>
        </p:spPr>
      </p:sp>
      <p:sp>
        <p:nvSpPr>
          <p:cNvPr id="44" name="Text 41"/>
          <p:cNvSpPr/>
          <p:nvPr/>
        </p:nvSpPr>
        <p:spPr>
          <a:xfrm>
            <a:off x="475488" y="3986784"/>
            <a:ext cx="4206240" cy="274320"/>
          </a:xfrm>
          <a:prstGeom prst="rect">
            <a:avLst/>
          </a:prstGeom>
          <a:noFill/>
          <a:ln/>
        </p:spPr>
        <p:txBody>
          <a:bodyPr wrap="square" lIns="0" tIns="0" rIns="0" bIns="0" rtlCol="0" anchor="ctr"/>
          <a:lstStyle/>
          <a:p>
            <a:pPr indent="0" marL="0">
              <a:buNone/>
            </a:pPr>
            <a:r>
              <a:rPr lang="en-US" sz="1200" b="1" dirty="0">
                <a:solidFill>
                  <a:srgbClr val="F8FAFC"/>
                </a:solidFill>
              </a:rPr>
              <a:t>Multi-label output</a:t>
            </a:r>
            <a:endParaRPr lang="en-US" sz="1200" dirty="0"/>
          </a:p>
        </p:txBody>
      </p:sp>
      <p:sp>
        <p:nvSpPr>
          <p:cNvPr id="45" name="Text 42"/>
          <p:cNvSpPr/>
          <p:nvPr/>
        </p:nvSpPr>
        <p:spPr>
          <a:xfrm>
            <a:off x="475488" y="4279392"/>
            <a:ext cx="4206240" cy="329184"/>
          </a:xfrm>
          <a:prstGeom prst="rect">
            <a:avLst/>
          </a:prstGeom>
          <a:noFill/>
          <a:ln/>
        </p:spPr>
        <p:txBody>
          <a:bodyPr wrap="square" lIns="0" tIns="0" rIns="0" bIns="0" rtlCol="0" anchor="ctr"/>
          <a:lstStyle/>
          <a:p>
            <a:pPr indent="0" marL="0">
              <a:buNone/>
            </a:pPr>
            <a:r>
              <a:rPr lang="en-US" sz="1000" dirty="0">
                <a:solidFill>
                  <a:srgbClr val="94A3B8"/>
                </a:solidFill>
              </a:rPr>
              <a:t>6 independent sigmoid heads — not softmax</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3F5E"/>
          </a:solidFill>
          <a:ln w="12700">
            <a:solidFill>
              <a:srgbClr val="F43F5E"/>
            </a:solidFill>
            <a:prstDash val="solid"/>
          </a:ln>
        </p:spPr>
      </p:sp>
      <p:pic>
        <p:nvPicPr>
          <p:cNvPr id="3" name="Image 0" descr="preencoded.png">    </p:cNvPr>
          <p:cNvPicPr>
            <a:picLocks noChangeAspect="1"/>
          </p:cNvPicPr>
          <p:nvPr/>
        </p:nvPicPr>
        <p:blipFill>
          <a:blip r:embed="rId1"/>
          <a:stretch>
            <a:fillRect/>
          </a:stretch>
        </p:blipFill>
        <p:spPr>
          <a:xfrm>
            <a:off x="274320" y="228600"/>
            <a:ext cx="411480" cy="411480"/>
          </a:xfrm>
          <a:prstGeom prst="rect">
            <a:avLst/>
          </a:prstGeom>
        </p:spPr>
      </p:pic>
      <p:sp>
        <p:nvSpPr>
          <p:cNvPr id="4" name="Text 1"/>
          <p:cNvSpPr/>
          <p:nvPr/>
        </p:nvSpPr>
        <p:spPr>
          <a:xfrm>
            <a:off x="777240" y="256032"/>
            <a:ext cx="8046720" cy="384048"/>
          </a:xfrm>
          <a:prstGeom prst="rect">
            <a:avLst/>
          </a:prstGeom>
          <a:noFill/>
          <a:ln/>
        </p:spPr>
        <p:txBody>
          <a:bodyPr wrap="square" lIns="0" tIns="0" rIns="0" bIns="0" rtlCol="0" anchor="ctr"/>
          <a:lstStyle/>
          <a:p>
            <a:pPr indent="0" marL="0">
              <a:buNone/>
            </a:pPr>
            <a:r>
              <a:rPr lang="en-US" sz="2200" b="1" dirty="0">
                <a:solidFill>
                  <a:srgbClr val="F8FAFC"/>
                </a:solidFill>
              </a:rPr>
              <a:t>Results &amp; Error Analysis</a:t>
            </a:r>
            <a:endParaRPr lang="en-US" sz="2200" dirty="0"/>
          </a:p>
        </p:txBody>
      </p:sp>
      <p:sp>
        <p:nvSpPr>
          <p:cNvPr id="5" name="Shape 2"/>
          <p:cNvSpPr/>
          <p:nvPr/>
        </p:nvSpPr>
        <p:spPr>
          <a:xfrm>
            <a:off x="274320" y="713232"/>
            <a:ext cx="8595360" cy="36576"/>
          </a:xfrm>
          <a:prstGeom prst="rect">
            <a:avLst/>
          </a:prstGeom>
          <a:solidFill>
            <a:srgbClr val="1E293B"/>
          </a:solidFill>
          <a:ln w="12700">
            <a:solidFill>
              <a:srgbClr val="1E293B"/>
            </a:solidFill>
            <a:prstDash val="solid"/>
          </a:ln>
        </p:spPr>
      </p:sp>
      <p:sp>
        <p:nvSpPr>
          <p:cNvPr id="6" name="Shape 3"/>
          <p:cNvSpPr/>
          <p:nvPr/>
        </p:nvSpPr>
        <p:spPr>
          <a:xfrm>
            <a:off x="274320" y="868680"/>
            <a:ext cx="3931920" cy="1280160"/>
          </a:xfrm>
          <a:prstGeom prst="rect">
            <a:avLst/>
          </a:prstGeom>
          <a:solidFill>
            <a:srgbClr val="1E293B"/>
          </a:solidFill>
          <a:ln w="12700">
            <a:solidFill>
              <a:srgbClr val="14B8A6"/>
            </a:solidFill>
            <a:prstDash val="solid"/>
          </a:ln>
          <a:effectLst>
            <a:outerShdw sx="100000" sy="100000" kx="0" ky="0" algn="bl" rotWithShape="0" blurRad="101600" dist="38100" dir="8100000">
              <a:srgbClr val="000000">
                <a:alpha val="25000"/>
              </a:srgbClr>
            </a:outerShdw>
          </a:effectLst>
        </p:spPr>
      </p:sp>
      <p:sp>
        <p:nvSpPr>
          <p:cNvPr id="7" name="Text 4"/>
          <p:cNvSpPr/>
          <p:nvPr/>
        </p:nvSpPr>
        <p:spPr>
          <a:xfrm>
            <a:off x="274320" y="932688"/>
            <a:ext cx="3931920" cy="411480"/>
          </a:xfrm>
          <a:prstGeom prst="rect">
            <a:avLst/>
          </a:prstGeom>
          <a:noFill/>
          <a:ln/>
        </p:spPr>
        <p:txBody>
          <a:bodyPr wrap="square" lIns="0" tIns="0" rIns="0" bIns="0" rtlCol="0" anchor="ctr"/>
          <a:lstStyle/>
          <a:p>
            <a:pPr algn="ctr" indent="0" marL="0">
              <a:buNone/>
            </a:pPr>
            <a:r>
              <a:rPr lang="en-US" sz="1200" dirty="0">
                <a:solidFill>
                  <a:srgbClr val="94A3B8"/>
                </a:solidFill>
              </a:rPr>
              <a:t>Baseline</a:t>
            </a:r>
            <a:endParaRPr lang="en-US" sz="1200" dirty="0"/>
          </a:p>
          <a:p>
            <a:pPr algn="ctr" indent="0" marL="0">
              <a:buNone/>
            </a:pPr>
            <a:r>
              <a:rPr lang="en-US" sz="1200" dirty="0">
                <a:solidFill>
                  <a:srgbClr val="94A3B8"/>
                </a:solidFill>
              </a:rPr>
              <a:t>TF-IDF + LogReg</a:t>
            </a:r>
            <a:endParaRPr lang="en-US" sz="1200" dirty="0"/>
          </a:p>
        </p:txBody>
      </p:sp>
      <p:sp>
        <p:nvSpPr>
          <p:cNvPr id="8" name="Text 5"/>
          <p:cNvSpPr/>
          <p:nvPr/>
        </p:nvSpPr>
        <p:spPr>
          <a:xfrm>
            <a:off x="274320" y="1353312"/>
            <a:ext cx="3931920" cy="594360"/>
          </a:xfrm>
          <a:prstGeom prst="rect">
            <a:avLst/>
          </a:prstGeom>
          <a:noFill/>
          <a:ln/>
        </p:spPr>
        <p:txBody>
          <a:bodyPr wrap="square" lIns="0" tIns="0" rIns="0" bIns="0" rtlCol="0" anchor="ctr"/>
          <a:lstStyle/>
          <a:p>
            <a:pPr algn="ctr" indent="0" marL="0">
              <a:buNone/>
            </a:pPr>
            <a:r>
              <a:rPr lang="en-US" sz="3600" b="1" dirty="0">
                <a:solidFill>
                  <a:srgbClr val="14B8A6"/>
                </a:solidFill>
              </a:rPr>
              <a:t>0.917</a:t>
            </a:r>
            <a:endParaRPr lang="en-US" sz="3600" dirty="0"/>
          </a:p>
        </p:txBody>
      </p:sp>
      <p:sp>
        <p:nvSpPr>
          <p:cNvPr id="9" name="Text 6"/>
          <p:cNvSpPr/>
          <p:nvPr/>
        </p:nvSpPr>
        <p:spPr>
          <a:xfrm>
            <a:off x="274320" y="1938528"/>
            <a:ext cx="3931920" cy="182880"/>
          </a:xfrm>
          <a:prstGeom prst="rect">
            <a:avLst/>
          </a:prstGeom>
          <a:noFill/>
          <a:ln/>
        </p:spPr>
        <p:txBody>
          <a:bodyPr wrap="square" lIns="0" tIns="0" rIns="0" bIns="0" rtlCol="0" anchor="ctr"/>
          <a:lstStyle/>
          <a:p>
            <a:pPr algn="ctr" indent="0" marL="0">
              <a:buNone/>
            </a:pPr>
            <a:r>
              <a:rPr lang="en-US" sz="900" dirty="0">
                <a:solidFill>
                  <a:srgbClr val="94A3B8"/>
                </a:solidFill>
              </a:rPr>
              <a:t>Macro ROC-AUC</a:t>
            </a:r>
            <a:endParaRPr lang="en-US" sz="900" dirty="0"/>
          </a:p>
        </p:txBody>
      </p:sp>
      <p:sp>
        <p:nvSpPr>
          <p:cNvPr id="10" name="Shape 7"/>
          <p:cNvSpPr/>
          <p:nvPr/>
        </p:nvSpPr>
        <p:spPr>
          <a:xfrm>
            <a:off x="4572000" y="868680"/>
            <a:ext cx="3931920" cy="1280160"/>
          </a:xfrm>
          <a:prstGeom prst="rect">
            <a:avLst/>
          </a:prstGeom>
          <a:solidFill>
            <a:srgbClr val="1E293B"/>
          </a:solidFill>
          <a:ln w="12700">
            <a:solidFill>
              <a:srgbClr val="A855F7"/>
            </a:solidFill>
            <a:prstDash val="solid"/>
          </a:ln>
          <a:effectLst>
            <a:outerShdw sx="100000" sy="100000" kx="0" ky="0" algn="bl" rotWithShape="0" blurRad="101600" dist="38100" dir="8100000">
              <a:srgbClr val="000000">
                <a:alpha val="25000"/>
              </a:srgbClr>
            </a:outerShdw>
          </a:effectLst>
        </p:spPr>
      </p:sp>
      <p:sp>
        <p:nvSpPr>
          <p:cNvPr id="11" name="Text 8"/>
          <p:cNvSpPr/>
          <p:nvPr/>
        </p:nvSpPr>
        <p:spPr>
          <a:xfrm>
            <a:off x="4572000" y="932688"/>
            <a:ext cx="3931920" cy="411480"/>
          </a:xfrm>
          <a:prstGeom prst="rect">
            <a:avLst/>
          </a:prstGeom>
          <a:noFill/>
          <a:ln/>
        </p:spPr>
        <p:txBody>
          <a:bodyPr wrap="square" lIns="0" tIns="0" rIns="0" bIns="0" rtlCol="0" anchor="ctr"/>
          <a:lstStyle/>
          <a:p>
            <a:pPr algn="ctr" indent="0" marL="0">
              <a:buNone/>
            </a:pPr>
            <a:r>
              <a:rPr lang="en-US" sz="1200" dirty="0">
                <a:solidFill>
                  <a:srgbClr val="94A3B8"/>
                </a:solidFill>
              </a:rPr>
              <a:t>BiLSTM</a:t>
            </a:r>
            <a:endParaRPr lang="en-US" sz="1200" dirty="0"/>
          </a:p>
          <a:p>
            <a:pPr algn="ctr" indent="0" marL="0">
              <a:buNone/>
            </a:pPr>
            <a:r>
              <a:rPr lang="en-US" sz="1200" dirty="0">
                <a:solidFill>
                  <a:srgbClr val="94A3B8"/>
                </a:solidFill>
              </a:rPr>
              <a:t>(PyTorch)</a:t>
            </a:r>
            <a:endParaRPr lang="en-US" sz="1200" dirty="0"/>
          </a:p>
        </p:txBody>
      </p:sp>
      <p:sp>
        <p:nvSpPr>
          <p:cNvPr id="12" name="Text 9"/>
          <p:cNvSpPr/>
          <p:nvPr/>
        </p:nvSpPr>
        <p:spPr>
          <a:xfrm>
            <a:off x="4572000" y="1353312"/>
            <a:ext cx="3931920" cy="594360"/>
          </a:xfrm>
          <a:prstGeom prst="rect">
            <a:avLst/>
          </a:prstGeom>
          <a:noFill/>
          <a:ln/>
        </p:spPr>
        <p:txBody>
          <a:bodyPr wrap="square" lIns="0" tIns="0" rIns="0" bIns="0" rtlCol="0" anchor="ctr"/>
          <a:lstStyle/>
          <a:p>
            <a:pPr algn="ctr" indent="0" marL="0">
              <a:buNone/>
            </a:pPr>
            <a:r>
              <a:rPr lang="en-US" sz="3600" b="1" dirty="0">
                <a:solidFill>
                  <a:srgbClr val="A855F7"/>
                </a:solidFill>
              </a:rPr>
              <a:t>0.938</a:t>
            </a:r>
            <a:endParaRPr lang="en-US" sz="3600" dirty="0"/>
          </a:p>
        </p:txBody>
      </p:sp>
      <p:sp>
        <p:nvSpPr>
          <p:cNvPr id="13" name="Text 10"/>
          <p:cNvSpPr/>
          <p:nvPr/>
        </p:nvSpPr>
        <p:spPr>
          <a:xfrm>
            <a:off x="4572000" y="1938528"/>
            <a:ext cx="3931920" cy="182880"/>
          </a:xfrm>
          <a:prstGeom prst="rect">
            <a:avLst/>
          </a:prstGeom>
          <a:noFill/>
          <a:ln/>
        </p:spPr>
        <p:txBody>
          <a:bodyPr wrap="square" lIns="0" tIns="0" rIns="0" bIns="0" rtlCol="0" anchor="ctr"/>
          <a:lstStyle/>
          <a:p>
            <a:pPr algn="ctr" indent="0" marL="0">
              <a:buNone/>
            </a:pPr>
            <a:r>
              <a:rPr lang="en-US" sz="900" dirty="0">
                <a:solidFill>
                  <a:srgbClr val="94A3B8"/>
                </a:solidFill>
              </a:rPr>
              <a:t>Macro ROC-AUC</a:t>
            </a:r>
            <a:endParaRPr lang="en-US" sz="900" dirty="0"/>
          </a:p>
        </p:txBody>
      </p:sp>
      <p:sp>
        <p:nvSpPr>
          <p:cNvPr id="14" name="Shape 11"/>
          <p:cNvSpPr/>
          <p:nvPr/>
        </p:nvSpPr>
        <p:spPr>
          <a:xfrm>
            <a:off x="3913632" y="1234440"/>
            <a:ext cx="1042416" cy="411480"/>
          </a:xfrm>
          <a:prstGeom prst="rect">
            <a:avLst/>
          </a:prstGeom>
          <a:solidFill>
            <a:srgbClr val="22C55E"/>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5" name="Text 12"/>
          <p:cNvSpPr/>
          <p:nvPr/>
        </p:nvSpPr>
        <p:spPr>
          <a:xfrm>
            <a:off x="3913632" y="1261872"/>
            <a:ext cx="1042416" cy="347472"/>
          </a:xfrm>
          <a:prstGeom prst="rect">
            <a:avLst/>
          </a:prstGeom>
          <a:noFill/>
          <a:ln/>
        </p:spPr>
        <p:txBody>
          <a:bodyPr wrap="square" lIns="0" tIns="0" rIns="0" bIns="0" rtlCol="0" anchor="ctr"/>
          <a:lstStyle/>
          <a:p>
            <a:pPr algn="ctr" indent="0" marL="0">
              <a:buNone/>
            </a:pPr>
            <a:r>
              <a:rPr lang="en-US" sz="1200" b="1" dirty="0">
                <a:solidFill>
                  <a:srgbClr val="0F172A"/>
                </a:solidFill>
              </a:rPr>
              <a:t>+0.021 ▲</a:t>
            </a:r>
            <a:endParaRPr lang="en-US" sz="1200" dirty="0"/>
          </a:p>
        </p:txBody>
      </p:sp>
      <p:sp>
        <p:nvSpPr>
          <p:cNvPr id="16" name="Shape 13"/>
          <p:cNvSpPr/>
          <p:nvPr/>
        </p:nvSpPr>
        <p:spPr>
          <a:xfrm>
            <a:off x="274320" y="2331720"/>
            <a:ext cx="4160520" cy="2468880"/>
          </a:xfrm>
          <a:prstGeom prst="rect">
            <a:avLst/>
          </a:prstGeom>
          <a:solidFill>
            <a:srgbClr val="1E293B"/>
          </a:solidFill>
          <a:ln w="12700">
            <a:solidFill>
              <a:srgbClr val="22C55E"/>
            </a:solidFill>
            <a:prstDash val="solid"/>
          </a:ln>
          <a:effectLst>
            <a:outerShdw sx="100000" sy="100000" kx="0" ky="0" algn="bl" rotWithShape="0" blurRad="101600" dist="38100" dir="8100000">
              <a:srgbClr val="000000">
                <a:alpha val="25000"/>
              </a:srgbClr>
            </a:outerShdw>
          </a:effectLst>
        </p:spPr>
      </p:sp>
      <p:pic>
        <p:nvPicPr>
          <p:cNvPr id="17" name="Image 1" descr="preencoded.png">    </p:cNvPr>
          <p:cNvPicPr>
            <a:picLocks noChangeAspect="1"/>
          </p:cNvPicPr>
          <p:nvPr/>
        </p:nvPicPr>
        <p:blipFill>
          <a:blip r:embed="rId2"/>
          <a:stretch>
            <a:fillRect/>
          </a:stretch>
        </p:blipFill>
        <p:spPr>
          <a:xfrm>
            <a:off x="384048" y="2450592"/>
            <a:ext cx="347472" cy="347472"/>
          </a:xfrm>
          <a:prstGeom prst="rect">
            <a:avLst/>
          </a:prstGeom>
        </p:spPr>
      </p:pic>
      <p:sp>
        <p:nvSpPr>
          <p:cNvPr id="18" name="Text 14"/>
          <p:cNvSpPr/>
          <p:nvPr/>
        </p:nvSpPr>
        <p:spPr>
          <a:xfrm>
            <a:off x="804672" y="2468880"/>
            <a:ext cx="3474720" cy="320040"/>
          </a:xfrm>
          <a:prstGeom prst="rect">
            <a:avLst/>
          </a:prstGeom>
          <a:noFill/>
          <a:ln/>
        </p:spPr>
        <p:txBody>
          <a:bodyPr wrap="square" lIns="0" tIns="0" rIns="0" bIns="0" rtlCol="0" anchor="ctr"/>
          <a:lstStyle/>
          <a:p>
            <a:pPr indent="0" marL="0">
              <a:buNone/>
            </a:pPr>
            <a:r>
              <a:rPr lang="en-US" sz="1300" b="1" dirty="0">
                <a:solidFill>
                  <a:srgbClr val="22C55E"/>
                </a:solidFill>
              </a:rPr>
              <a:t>What Works</a:t>
            </a:r>
            <a:endParaRPr lang="en-US" sz="1300" dirty="0"/>
          </a:p>
        </p:txBody>
      </p:sp>
      <p:sp>
        <p:nvSpPr>
          <p:cNvPr id="19" name="Text 15"/>
          <p:cNvSpPr/>
          <p:nvPr/>
        </p:nvSpPr>
        <p:spPr>
          <a:xfrm>
            <a:off x="384048" y="2880360"/>
            <a:ext cx="3840480" cy="1737360"/>
          </a:xfrm>
          <a:prstGeom prst="rect">
            <a:avLst/>
          </a:prstGeom>
          <a:noFill/>
          <a:ln/>
        </p:spPr>
        <p:txBody>
          <a:bodyPr wrap="square" lIns="0" tIns="0" rIns="0" bIns="0" rtlCol="0" anchor="ctr"/>
          <a:lstStyle/>
          <a:p>
            <a:pPr marL="342900" indent="-342900">
              <a:buSzPct val="100000"/>
              <a:buChar char="•"/>
            </a:pPr>
            <a:r>
              <a:rPr lang="en-US" sz="1100" dirty="0">
                <a:solidFill>
                  <a:srgbClr val="F8FAFC"/>
                </a:solidFill>
              </a:rPr>
              <a:t>Explicit insults &amp; profanity</a:t>
            </a:r>
            <a:endParaRPr lang="en-US" sz="1100" dirty="0"/>
          </a:p>
          <a:p>
            <a:pPr marL="342900" indent="-342900">
              <a:buSzPct val="100000"/>
              <a:buChar char="•"/>
            </a:pPr>
            <a:r>
              <a:rPr lang="en-US" sz="1100" dirty="0">
                <a:solidFill>
                  <a:srgbClr val="F8FAFC"/>
                </a:solidFill>
              </a:rPr>
              <a:t>Multi-label co-occurrence (e.g. toxic + insult)</a:t>
            </a:r>
            <a:endParaRPr lang="en-US" sz="1100" dirty="0"/>
          </a:p>
          <a:p>
            <a:pPr marL="342900" indent="-342900">
              <a:buSzPct val="100000"/>
              <a:buChar char="•"/>
            </a:pPr>
            <a:r>
              <a:rPr lang="en-US" sz="1100" dirty="0">
                <a:solidFill>
                  <a:srgbClr val="F8FAFC"/>
                </a:solidFill>
              </a:rPr>
              <a:t>High confidence on clear-cut cases</a:t>
            </a:r>
            <a:endParaRPr lang="en-US" sz="1100" dirty="0"/>
          </a:p>
        </p:txBody>
      </p:sp>
      <p:sp>
        <p:nvSpPr>
          <p:cNvPr id="20" name="Shape 16"/>
          <p:cNvSpPr/>
          <p:nvPr/>
        </p:nvSpPr>
        <p:spPr>
          <a:xfrm>
            <a:off x="4709160" y="2331720"/>
            <a:ext cx="4160520" cy="2468880"/>
          </a:xfrm>
          <a:prstGeom prst="rect">
            <a:avLst/>
          </a:prstGeom>
          <a:solidFill>
            <a:srgbClr val="1E293B"/>
          </a:solidFill>
          <a:ln w="12700">
            <a:solidFill>
              <a:srgbClr val="F43F5E"/>
            </a:solidFill>
            <a:prstDash val="solid"/>
          </a:ln>
          <a:effectLst>
            <a:outerShdw sx="100000" sy="100000" kx="0" ky="0" algn="bl" rotWithShape="0" blurRad="101600" dist="38100" dir="8100000">
              <a:srgbClr val="000000">
                <a:alpha val="25000"/>
              </a:srgbClr>
            </a:outerShdw>
          </a:effectLst>
        </p:spPr>
      </p:sp>
      <p:pic>
        <p:nvPicPr>
          <p:cNvPr id="21" name="Image 2" descr="preencoded.png">    </p:cNvPr>
          <p:cNvPicPr>
            <a:picLocks noChangeAspect="1"/>
          </p:cNvPicPr>
          <p:nvPr/>
        </p:nvPicPr>
        <p:blipFill>
          <a:blip r:embed="rId3"/>
          <a:stretch>
            <a:fillRect/>
          </a:stretch>
        </p:blipFill>
        <p:spPr>
          <a:xfrm>
            <a:off x="4828032" y="2450592"/>
            <a:ext cx="347472" cy="347472"/>
          </a:xfrm>
          <a:prstGeom prst="rect">
            <a:avLst/>
          </a:prstGeom>
        </p:spPr>
      </p:pic>
      <p:sp>
        <p:nvSpPr>
          <p:cNvPr id="22" name="Text 17"/>
          <p:cNvSpPr/>
          <p:nvPr/>
        </p:nvSpPr>
        <p:spPr>
          <a:xfrm>
            <a:off x="5257800" y="2468880"/>
            <a:ext cx="3474720" cy="320040"/>
          </a:xfrm>
          <a:prstGeom prst="rect">
            <a:avLst/>
          </a:prstGeom>
          <a:noFill/>
          <a:ln/>
        </p:spPr>
        <p:txBody>
          <a:bodyPr wrap="square" lIns="0" tIns="0" rIns="0" bIns="0" rtlCol="0" anchor="ctr"/>
          <a:lstStyle/>
          <a:p>
            <a:pPr indent="0" marL="0">
              <a:buNone/>
            </a:pPr>
            <a:r>
              <a:rPr lang="en-US" sz="1300" b="1" dirty="0">
                <a:solidFill>
                  <a:srgbClr val="F43F5E"/>
                </a:solidFill>
              </a:rPr>
              <a:t>What Fails</a:t>
            </a:r>
            <a:endParaRPr lang="en-US" sz="1300" dirty="0"/>
          </a:p>
        </p:txBody>
      </p:sp>
      <p:sp>
        <p:nvSpPr>
          <p:cNvPr id="23" name="Text 18"/>
          <p:cNvSpPr/>
          <p:nvPr/>
        </p:nvSpPr>
        <p:spPr>
          <a:xfrm>
            <a:off x="4828032" y="2880360"/>
            <a:ext cx="3840480" cy="1737360"/>
          </a:xfrm>
          <a:prstGeom prst="rect">
            <a:avLst/>
          </a:prstGeom>
          <a:noFill/>
          <a:ln/>
        </p:spPr>
        <p:txBody>
          <a:bodyPr wrap="square" lIns="0" tIns="0" rIns="0" bIns="0" rtlCol="0" anchor="ctr"/>
          <a:lstStyle/>
          <a:p>
            <a:pPr marL="342900" indent="-342900">
              <a:buSzPct val="100000"/>
              <a:buChar char="•"/>
            </a:pPr>
            <a:r>
              <a:rPr lang="en-US" sz="1100" dirty="0">
                <a:solidFill>
                  <a:srgbClr val="F8FAFC"/>
                </a:solidFill>
              </a:rPr>
              <a:t>Sarcasm: "Oh great idea, Einstein" → predicted clean</a:t>
            </a:r>
            <a:endParaRPr lang="en-US" sz="1100" dirty="0"/>
          </a:p>
          <a:p>
            <a:pPr marL="342900" indent="-342900">
              <a:buSzPct val="100000"/>
              <a:buChar char="•"/>
            </a:pPr>
            <a:r>
              <a:rPr lang="en-US" sz="1100" dirty="0">
                <a:solidFill>
                  <a:srgbClr val="F8FAFC"/>
                </a:solidFill>
              </a:rPr>
              <a:t>Rare 'threat' class — very few training examples</a:t>
            </a:r>
            <a:endParaRPr lang="en-US" sz="1100" dirty="0"/>
          </a:p>
          <a:p>
            <a:pPr marL="342900" indent="-342900">
              <a:buSzPct val="100000"/>
              <a:buChar char="•"/>
            </a:pPr>
            <a:r>
              <a:rPr lang="en-US" sz="1100" dirty="0">
                <a:solidFill>
                  <a:srgbClr val="F8FAFC"/>
                </a:solidFill>
              </a:rPr>
              <a:t>Context-dependent toxicity without world knowledge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5EEAD4"/>
          </a:solidFill>
          <a:ln w="12700">
            <a:solidFill>
              <a:srgbClr val="5EEAD4"/>
            </a:solidFill>
            <a:prstDash val="solid"/>
          </a:ln>
        </p:spPr>
      </p:sp>
      <p:pic>
        <p:nvPicPr>
          <p:cNvPr id="3" name="Image 0" descr="preencoded.png">    </p:cNvPr>
          <p:cNvPicPr>
            <a:picLocks noChangeAspect="1"/>
          </p:cNvPicPr>
          <p:nvPr/>
        </p:nvPicPr>
        <p:blipFill>
          <a:blip r:embed="rId1"/>
          <a:stretch>
            <a:fillRect/>
          </a:stretch>
        </p:blipFill>
        <p:spPr>
          <a:xfrm>
            <a:off x="274320" y="228600"/>
            <a:ext cx="411480" cy="411480"/>
          </a:xfrm>
          <a:prstGeom prst="rect">
            <a:avLst/>
          </a:prstGeom>
        </p:spPr>
      </p:pic>
      <p:sp>
        <p:nvSpPr>
          <p:cNvPr id="4" name="Text 1"/>
          <p:cNvSpPr/>
          <p:nvPr/>
        </p:nvSpPr>
        <p:spPr>
          <a:xfrm>
            <a:off x="777240" y="256032"/>
            <a:ext cx="8046720" cy="384048"/>
          </a:xfrm>
          <a:prstGeom prst="rect">
            <a:avLst/>
          </a:prstGeom>
          <a:noFill/>
          <a:ln/>
        </p:spPr>
        <p:txBody>
          <a:bodyPr wrap="square" lIns="0" tIns="0" rIns="0" bIns="0" rtlCol="0" anchor="ctr"/>
          <a:lstStyle/>
          <a:p>
            <a:pPr indent="0" marL="0">
              <a:buNone/>
            </a:pPr>
            <a:r>
              <a:rPr lang="en-US" sz="2200" b="1" dirty="0">
                <a:solidFill>
                  <a:srgbClr val="F8FAFC"/>
                </a:solidFill>
              </a:rPr>
              <a:t>Conclusions &amp; Future Work</a:t>
            </a:r>
            <a:endParaRPr lang="en-US" sz="2200" dirty="0"/>
          </a:p>
        </p:txBody>
      </p:sp>
      <p:sp>
        <p:nvSpPr>
          <p:cNvPr id="5" name="Shape 2"/>
          <p:cNvSpPr/>
          <p:nvPr/>
        </p:nvSpPr>
        <p:spPr>
          <a:xfrm>
            <a:off x="274320" y="713232"/>
            <a:ext cx="8595360" cy="36576"/>
          </a:xfrm>
          <a:prstGeom prst="rect">
            <a:avLst/>
          </a:prstGeom>
          <a:solidFill>
            <a:srgbClr val="1E293B"/>
          </a:solidFill>
          <a:ln w="12700">
            <a:solidFill>
              <a:srgbClr val="1E293B"/>
            </a:solidFill>
            <a:prstDash val="solid"/>
          </a:ln>
        </p:spPr>
      </p:sp>
      <p:sp>
        <p:nvSpPr>
          <p:cNvPr id="6" name="Shape 3"/>
          <p:cNvSpPr/>
          <p:nvPr/>
        </p:nvSpPr>
        <p:spPr>
          <a:xfrm>
            <a:off x="274320" y="868680"/>
            <a:ext cx="5120640" cy="59436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7" name="Shape 4"/>
          <p:cNvSpPr/>
          <p:nvPr/>
        </p:nvSpPr>
        <p:spPr>
          <a:xfrm>
            <a:off x="274320" y="868680"/>
            <a:ext cx="502920" cy="594360"/>
          </a:xfrm>
          <a:prstGeom prst="rect">
            <a:avLst/>
          </a:prstGeom>
          <a:solidFill>
            <a:srgbClr val="0D9488"/>
          </a:solidFill>
          <a:ln w="12700">
            <a:solidFill>
              <a:srgbClr val="0D9488"/>
            </a:solidFill>
            <a:prstDash val="solid"/>
          </a:ln>
        </p:spPr>
      </p:sp>
      <p:sp>
        <p:nvSpPr>
          <p:cNvPr id="8" name="Text 5"/>
          <p:cNvSpPr/>
          <p:nvPr/>
        </p:nvSpPr>
        <p:spPr>
          <a:xfrm>
            <a:off x="274320" y="978408"/>
            <a:ext cx="502920" cy="347472"/>
          </a:xfrm>
          <a:prstGeom prst="rect">
            <a:avLst/>
          </a:prstGeom>
          <a:noFill/>
          <a:ln/>
        </p:spPr>
        <p:txBody>
          <a:bodyPr wrap="square" lIns="0" tIns="0" rIns="0" bIns="0" rtlCol="0" anchor="ctr"/>
          <a:lstStyle/>
          <a:p>
            <a:pPr algn="ctr" indent="0" marL="0">
              <a:buNone/>
            </a:pPr>
            <a:r>
              <a:rPr lang="en-US" sz="1300" b="1" dirty="0">
                <a:solidFill>
                  <a:srgbClr val="0F172A"/>
                </a:solidFill>
              </a:rPr>
              <a:t>01</a:t>
            </a:r>
            <a:endParaRPr lang="en-US" sz="1300" dirty="0"/>
          </a:p>
        </p:txBody>
      </p:sp>
      <p:sp>
        <p:nvSpPr>
          <p:cNvPr id="9" name="Text 6"/>
          <p:cNvSpPr/>
          <p:nvPr/>
        </p:nvSpPr>
        <p:spPr>
          <a:xfrm>
            <a:off x="896112" y="960120"/>
            <a:ext cx="4389120" cy="402336"/>
          </a:xfrm>
          <a:prstGeom prst="rect">
            <a:avLst/>
          </a:prstGeom>
          <a:noFill/>
          <a:ln/>
        </p:spPr>
        <p:txBody>
          <a:bodyPr wrap="square" lIns="0" tIns="0" rIns="0" bIns="0" rtlCol="0" anchor="ctr"/>
          <a:lstStyle/>
          <a:p>
            <a:pPr indent="0" marL="0">
              <a:buNone/>
            </a:pPr>
            <a:r>
              <a:rPr lang="en-US" sz="1100" dirty="0">
                <a:solidFill>
                  <a:srgbClr val="F8FAFC"/>
                </a:solidFill>
              </a:rPr>
              <a:t>BiLSTM outperforms classical TF-IDF baseline by +0.021 ROC-AUC</a:t>
            </a:r>
            <a:endParaRPr lang="en-US" sz="1100" dirty="0"/>
          </a:p>
        </p:txBody>
      </p:sp>
      <p:sp>
        <p:nvSpPr>
          <p:cNvPr id="10" name="Shape 7"/>
          <p:cNvSpPr/>
          <p:nvPr/>
        </p:nvSpPr>
        <p:spPr>
          <a:xfrm>
            <a:off x="274320" y="1618488"/>
            <a:ext cx="5120640" cy="59436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11" name="Shape 8"/>
          <p:cNvSpPr/>
          <p:nvPr/>
        </p:nvSpPr>
        <p:spPr>
          <a:xfrm>
            <a:off x="274320" y="1618488"/>
            <a:ext cx="502920" cy="594360"/>
          </a:xfrm>
          <a:prstGeom prst="rect">
            <a:avLst/>
          </a:prstGeom>
          <a:solidFill>
            <a:srgbClr val="A855F7"/>
          </a:solidFill>
          <a:ln w="12700">
            <a:solidFill>
              <a:srgbClr val="A855F7"/>
            </a:solidFill>
            <a:prstDash val="solid"/>
          </a:ln>
        </p:spPr>
      </p:sp>
      <p:sp>
        <p:nvSpPr>
          <p:cNvPr id="12" name="Text 9"/>
          <p:cNvSpPr/>
          <p:nvPr/>
        </p:nvSpPr>
        <p:spPr>
          <a:xfrm>
            <a:off x="274320" y="1728216"/>
            <a:ext cx="502920" cy="347472"/>
          </a:xfrm>
          <a:prstGeom prst="rect">
            <a:avLst/>
          </a:prstGeom>
          <a:noFill/>
          <a:ln/>
        </p:spPr>
        <p:txBody>
          <a:bodyPr wrap="square" lIns="0" tIns="0" rIns="0" bIns="0" rtlCol="0" anchor="ctr"/>
          <a:lstStyle/>
          <a:p>
            <a:pPr algn="ctr" indent="0" marL="0">
              <a:buNone/>
            </a:pPr>
            <a:r>
              <a:rPr lang="en-US" sz="1300" b="1" dirty="0">
                <a:solidFill>
                  <a:srgbClr val="0F172A"/>
                </a:solidFill>
              </a:rPr>
              <a:t>02</a:t>
            </a:r>
            <a:endParaRPr lang="en-US" sz="1300" dirty="0"/>
          </a:p>
        </p:txBody>
      </p:sp>
      <p:sp>
        <p:nvSpPr>
          <p:cNvPr id="13" name="Text 10"/>
          <p:cNvSpPr/>
          <p:nvPr/>
        </p:nvSpPr>
        <p:spPr>
          <a:xfrm>
            <a:off x="896112" y="1709928"/>
            <a:ext cx="4389120" cy="402336"/>
          </a:xfrm>
          <a:prstGeom prst="rect">
            <a:avLst/>
          </a:prstGeom>
          <a:noFill/>
          <a:ln/>
        </p:spPr>
        <p:txBody>
          <a:bodyPr wrap="square" lIns="0" tIns="0" rIns="0" bIns="0" rtlCol="0" anchor="ctr"/>
          <a:lstStyle/>
          <a:p>
            <a:pPr indent="0" marL="0">
              <a:buNone/>
            </a:pPr>
            <a:r>
              <a:rPr lang="en-US" sz="1100" dirty="0">
                <a:solidFill>
                  <a:srgbClr val="F8FAFC"/>
                </a:solidFill>
              </a:rPr>
              <a:t>Multi-label approach correctly flags multiple toxicity types simultaneously</a:t>
            </a:r>
            <a:endParaRPr lang="en-US" sz="1100" dirty="0"/>
          </a:p>
        </p:txBody>
      </p:sp>
      <p:sp>
        <p:nvSpPr>
          <p:cNvPr id="14" name="Shape 11"/>
          <p:cNvSpPr/>
          <p:nvPr/>
        </p:nvSpPr>
        <p:spPr>
          <a:xfrm>
            <a:off x="274320" y="2368296"/>
            <a:ext cx="5120640" cy="59436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15" name="Shape 12"/>
          <p:cNvSpPr/>
          <p:nvPr/>
        </p:nvSpPr>
        <p:spPr>
          <a:xfrm>
            <a:off x="274320" y="2368296"/>
            <a:ext cx="502920" cy="594360"/>
          </a:xfrm>
          <a:prstGeom prst="rect">
            <a:avLst/>
          </a:prstGeom>
          <a:solidFill>
            <a:srgbClr val="F59E0B"/>
          </a:solidFill>
          <a:ln w="12700">
            <a:solidFill>
              <a:srgbClr val="F59E0B"/>
            </a:solidFill>
            <a:prstDash val="solid"/>
          </a:ln>
        </p:spPr>
      </p:sp>
      <p:sp>
        <p:nvSpPr>
          <p:cNvPr id="16" name="Text 13"/>
          <p:cNvSpPr/>
          <p:nvPr/>
        </p:nvSpPr>
        <p:spPr>
          <a:xfrm>
            <a:off x="274320" y="2478024"/>
            <a:ext cx="502920" cy="347472"/>
          </a:xfrm>
          <a:prstGeom prst="rect">
            <a:avLst/>
          </a:prstGeom>
          <a:noFill/>
          <a:ln/>
        </p:spPr>
        <p:txBody>
          <a:bodyPr wrap="square" lIns="0" tIns="0" rIns="0" bIns="0" rtlCol="0" anchor="ctr"/>
          <a:lstStyle/>
          <a:p>
            <a:pPr algn="ctr" indent="0" marL="0">
              <a:buNone/>
            </a:pPr>
            <a:r>
              <a:rPr lang="en-US" sz="1300" b="1" dirty="0">
                <a:solidFill>
                  <a:srgbClr val="0F172A"/>
                </a:solidFill>
              </a:rPr>
              <a:t>03</a:t>
            </a:r>
            <a:endParaRPr lang="en-US" sz="1300" dirty="0"/>
          </a:p>
        </p:txBody>
      </p:sp>
      <p:sp>
        <p:nvSpPr>
          <p:cNvPr id="17" name="Text 14"/>
          <p:cNvSpPr/>
          <p:nvPr/>
        </p:nvSpPr>
        <p:spPr>
          <a:xfrm>
            <a:off x="896112" y="2459736"/>
            <a:ext cx="4389120" cy="402336"/>
          </a:xfrm>
          <a:prstGeom prst="rect">
            <a:avLst/>
          </a:prstGeom>
          <a:noFill/>
          <a:ln/>
        </p:spPr>
        <p:txBody>
          <a:bodyPr wrap="square" lIns="0" tIns="0" rIns="0" bIns="0" rtlCol="0" anchor="ctr"/>
          <a:lstStyle/>
          <a:p>
            <a:pPr indent="0" marL="0">
              <a:buNone/>
            </a:pPr>
            <a:r>
              <a:rPr lang="en-US" sz="1100" dirty="0">
                <a:solidFill>
                  <a:srgbClr val="F8FAFC"/>
                </a:solidFill>
              </a:rPr>
              <a:t>Macro ROC-AUC is the right metric for severely imbalanced multi-label problems</a:t>
            </a:r>
            <a:endParaRPr lang="en-US" sz="1100" dirty="0"/>
          </a:p>
        </p:txBody>
      </p:sp>
      <p:sp>
        <p:nvSpPr>
          <p:cNvPr id="18" name="Shape 15"/>
          <p:cNvSpPr/>
          <p:nvPr/>
        </p:nvSpPr>
        <p:spPr>
          <a:xfrm>
            <a:off x="274320" y="3118104"/>
            <a:ext cx="5120640" cy="594360"/>
          </a:xfrm>
          <a:prstGeom prst="rect">
            <a:avLst/>
          </a:prstGeom>
          <a:solidFill>
            <a:srgbClr val="1E293B"/>
          </a:solidFill>
          <a:ln w="12700">
            <a:solidFill>
              <a:srgbClr val="1E293B"/>
            </a:solidFill>
            <a:prstDash val="solid"/>
          </a:ln>
          <a:effectLst>
            <a:outerShdw sx="100000" sy="100000" kx="0" ky="0" algn="bl" rotWithShape="0" blurRad="101600" dist="38100" dir="8100000">
              <a:srgbClr val="000000">
                <a:alpha val="25000"/>
              </a:srgbClr>
            </a:outerShdw>
          </a:effectLst>
        </p:spPr>
      </p:sp>
      <p:sp>
        <p:nvSpPr>
          <p:cNvPr id="19" name="Shape 16"/>
          <p:cNvSpPr/>
          <p:nvPr/>
        </p:nvSpPr>
        <p:spPr>
          <a:xfrm>
            <a:off x="274320" y="3118104"/>
            <a:ext cx="502920" cy="594360"/>
          </a:xfrm>
          <a:prstGeom prst="rect">
            <a:avLst/>
          </a:prstGeom>
          <a:solidFill>
            <a:srgbClr val="F43F5E"/>
          </a:solidFill>
          <a:ln w="12700">
            <a:solidFill>
              <a:srgbClr val="F43F5E"/>
            </a:solidFill>
            <a:prstDash val="solid"/>
          </a:ln>
        </p:spPr>
      </p:sp>
      <p:sp>
        <p:nvSpPr>
          <p:cNvPr id="20" name="Text 17"/>
          <p:cNvSpPr/>
          <p:nvPr/>
        </p:nvSpPr>
        <p:spPr>
          <a:xfrm>
            <a:off x="274320" y="3227832"/>
            <a:ext cx="502920" cy="347472"/>
          </a:xfrm>
          <a:prstGeom prst="rect">
            <a:avLst/>
          </a:prstGeom>
          <a:noFill/>
          <a:ln/>
        </p:spPr>
        <p:txBody>
          <a:bodyPr wrap="square" lIns="0" tIns="0" rIns="0" bIns="0" rtlCol="0" anchor="ctr"/>
          <a:lstStyle/>
          <a:p>
            <a:pPr algn="ctr" indent="0" marL="0">
              <a:buNone/>
            </a:pPr>
            <a:r>
              <a:rPr lang="en-US" sz="1300" b="1" dirty="0">
                <a:solidFill>
                  <a:srgbClr val="0F172A"/>
                </a:solidFill>
              </a:rPr>
              <a:t>04</a:t>
            </a:r>
            <a:endParaRPr lang="en-US" sz="1300" dirty="0"/>
          </a:p>
        </p:txBody>
      </p:sp>
      <p:sp>
        <p:nvSpPr>
          <p:cNvPr id="21" name="Text 18"/>
          <p:cNvSpPr/>
          <p:nvPr/>
        </p:nvSpPr>
        <p:spPr>
          <a:xfrm>
            <a:off x="896112" y="3209544"/>
            <a:ext cx="4389120" cy="402336"/>
          </a:xfrm>
          <a:prstGeom prst="rect">
            <a:avLst/>
          </a:prstGeom>
          <a:noFill/>
          <a:ln/>
        </p:spPr>
        <p:txBody>
          <a:bodyPr wrap="square" lIns="0" tIns="0" rIns="0" bIns="0" rtlCol="0" anchor="ctr"/>
          <a:lstStyle/>
          <a:p>
            <a:pPr indent="0" marL="0">
              <a:buNone/>
            </a:pPr>
            <a:r>
              <a:rPr lang="en-US" sz="1100" dirty="0">
                <a:solidFill>
                  <a:srgbClr val="F8FAFC"/>
                </a:solidFill>
              </a:rPr>
              <a:t>Key limitation: model cannot understand sarcasm or implicit context</a:t>
            </a:r>
            <a:endParaRPr lang="en-US" sz="1100" dirty="0"/>
          </a:p>
        </p:txBody>
      </p:sp>
      <p:sp>
        <p:nvSpPr>
          <p:cNvPr id="22" name="Shape 19"/>
          <p:cNvSpPr/>
          <p:nvPr/>
        </p:nvSpPr>
        <p:spPr>
          <a:xfrm>
            <a:off x="5669280" y="868680"/>
            <a:ext cx="3246120" cy="3931920"/>
          </a:xfrm>
          <a:prstGeom prst="rect">
            <a:avLst/>
          </a:prstGeom>
          <a:solidFill>
            <a:srgbClr val="1E293B"/>
          </a:solidFill>
          <a:ln w="12700">
            <a:solidFill>
              <a:srgbClr val="5EEAD4"/>
            </a:solidFill>
            <a:prstDash val="solid"/>
          </a:ln>
          <a:effectLst>
            <a:outerShdw sx="100000" sy="100000" kx="0" ky="0" algn="bl" rotWithShape="0" blurRad="101600" dist="38100" dir="8100000">
              <a:srgbClr val="000000">
                <a:alpha val="25000"/>
              </a:srgbClr>
            </a:outerShdw>
          </a:effectLst>
        </p:spPr>
      </p:sp>
      <p:sp>
        <p:nvSpPr>
          <p:cNvPr id="23" name="Text 20"/>
          <p:cNvSpPr/>
          <p:nvPr/>
        </p:nvSpPr>
        <p:spPr>
          <a:xfrm>
            <a:off x="5669280" y="960120"/>
            <a:ext cx="3246120" cy="320040"/>
          </a:xfrm>
          <a:prstGeom prst="rect">
            <a:avLst/>
          </a:prstGeom>
          <a:noFill/>
          <a:ln/>
        </p:spPr>
        <p:txBody>
          <a:bodyPr wrap="square" lIns="0" tIns="0" rIns="0" bIns="0" rtlCol="0" anchor="ctr"/>
          <a:lstStyle/>
          <a:p>
            <a:pPr algn="ctr" indent="0" marL="0">
              <a:buNone/>
            </a:pPr>
            <a:r>
              <a:rPr lang="en-US" sz="1300" b="1" dirty="0">
                <a:solidFill>
                  <a:srgbClr val="5EEAD4"/>
                </a:solidFill>
              </a:rPr>
              <a:t>Future Work</a:t>
            </a:r>
            <a:endParaRPr lang="en-US" sz="1300" dirty="0"/>
          </a:p>
        </p:txBody>
      </p:sp>
      <p:sp>
        <p:nvSpPr>
          <p:cNvPr id="24" name="Shape 21"/>
          <p:cNvSpPr/>
          <p:nvPr/>
        </p:nvSpPr>
        <p:spPr>
          <a:xfrm>
            <a:off x="5806440" y="1325880"/>
            <a:ext cx="2971800" cy="36576"/>
          </a:xfrm>
          <a:prstGeom prst="rect">
            <a:avLst/>
          </a:prstGeom>
          <a:solidFill>
            <a:srgbClr val="0D9488"/>
          </a:solidFill>
          <a:ln w="12700">
            <a:solidFill>
              <a:srgbClr val="0D9488"/>
            </a:solidFill>
            <a:prstDash val="solid"/>
          </a:ln>
        </p:spPr>
      </p:sp>
      <p:pic>
        <p:nvPicPr>
          <p:cNvPr id="25" name="Image 1" descr="preencoded.png">    </p:cNvPr>
          <p:cNvPicPr>
            <a:picLocks noChangeAspect="1"/>
          </p:cNvPicPr>
          <p:nvPr/>
        </p:nvPicPr>
        <p:blipFill>
          <a:blip r:embed="rId2"/>
          <a:stretch>
            <a:fillRect/>
          </a:stretch>
        </p:blipFill>
        <p:spPr>
          <a:xfrm>
            <a:off x="5806440" y="1508760"/>
            <a:ext cx="347472" cy="347472"/>
          </a:xfrm>
          <a:prstGeom prst="rect">
            <a:avLst/>
          </a:prstGeom>
        </p:spPr>
      </p:pic>
      <p:sp>
        <p:nvSpPr>
          <p:cNvPr id="26" name="Text 22"/>
          <p:cNvSpPr/>
          <p:nvPr/>
        </p:nvSpPr>
        <p:spPr>
          <a:xfrm>
            <a:off x="6236208" y="1508760"/>
            <a:ext cx="2560320" cy="292608"/>
          </a:xfrm>
          <a:prstGeom prst="rect">
            <a:avLst/>
          </a:prstGeom>
          <a:noFill/>
          <a:ln/>
        </p:spPr>
        <p:txBody>
          <a:bodyPr wrap="square" lIns="0" tIns="0" rIns="0" bIns="0" rtlCol="0" anchor="ctr"/>
          <a:lstStyle/>
          <a:p>
            <a:pPr indent="0" marL="0">
              <a:buNone/>
            </a:pPr>
            <a:r>
              <a:rPr lang="en-US" sz="1100" b="1" dirty="0">
                <a:solidFill>
                  <a:srgbClr val="A855F7"/>
                </a:solidFill>
              </a:rPr>
              <a:t>DistilBERT / RoBERTa</a:t>
            </a:r>
            <a:endParaRPr lang="en-US" sz="1100" dirty="0"/>
          </a:p>
        </p:txBody>
      </p:sp>
      <p:sp>
        <p:nvSpPr>
          <p:cNvPr id="27" name="Text 23"/>
          <p:cNvSpPr/>
          <p:nvPr/>
        </p:nvSpPr>
        <p:spPr>
          <a:xfrm>
            <a:off x="5806440" y="1856232"/>
            <a:ext cx="2971800" cy="548640"/>
          </a:xfrm>
          <a:prstGeom prst="rect">
            <a:avLst/>
          </a:prstGeom>
          <a:noFill/>
          <a:ln/>
        </p:spPr>
        <p:txBody>
          <a:bodyPr wrap="square" lIns="0" tIns="0" rIns="0" bIns="0" rtlCol="0" anchor="ctr"/>
          <a:lstStyle/>
          <a:p>
            <a:pPr indent="0" marL="0">
              <a:buNone/>
            </a:pPr>
            <a:r>
              <a:rPr lang="en-US" sz="950" dirty="0">
                <a:solidFill>
                  <a:srgbClr val="94A3B8"/>
                </a:solidFill>
              </a:rPr>
              <a:t>Pre-trained transformers — deep contextual understanding, fix sarcasm failures</a:t>
            </a:r>
            <a:endParaRPr lang="en-US" sz="950" dirty="0"/>
          </a:p>
        </p:txBody>
      </p:sp>
      <p:pic>
        <p:nvPicPr>
          <p:cNvPr id="28" name="Image 2" descr="preencoded.png">    </p:cNvPr>
          <p:cNvPicPr>
            <a:picLocks noChangeAspect="1"/>
          </p:cNvPicPr>
          <p:nvPr/>
        </p:nvPicPr>
        <p:blipFill>
          <a:blip r:embed="rId3"/>
          <a:stretch>
            <a:fillRect/>
          </a:stretch>
        </p:blipFill>
        <p:spPr>
          <a:xfrm>
            <a:off x="5806440" y="2587752"/>
            <a:ext cx="347472" cy="347472"/>
          </a:xfrm>
          <a:prstGeom prst="rect">
            <a:avLst/>
          </a:prstGeom>
        </p:spPr>
      </p:pic>
      <p:sp>
        <p:nvSpPr>
          <p:cNvPr id="29" name="Text 24"/>
          <p:cNvSpPr/>
          <p:nvPr/>
        </p:nvSpPr>
        <p:spPr>
          <a:xfrm>
            <a:off x="6236208" y="2587752"/>
            <a:ext cx="2560320" cy="292608"/>
          </a:xfrm>
          <a:prstGeom prst="rect">
            <a:avLst/>
          </a:prstGeom>
          <a:noFill/>
          <a:ln/>
        </p:spPr>
        <p:txBody>
          <a:bodyPr wrap="square" lIns="0" tIns="0" rIns="0" bIns="0" rtlCol="0" anchor="ctr"/>
          <a:lstStyle/>
          <a:p>
            <a:pPr indent="0" marL="0">
              <a:buNone/>
            </a:pPr>
            <a:r>
              <a:rPr lang="en-US" sz="1100" b="1" dirty="0">
                <a:solidFill>
                  <a:srgbClr val="F59E0B"/>
                </a:solidFill>
              </a:rPr>
              <a:t>Handle Class Imbalance</a:t>
            </a:r>
            <a:endParaRPr lang="en-US" sz="1100" dirty="0"/>
          </a:p>
        </p:txBody>
      </p:sp>
      <p:sp>
        <p:nvSpPr>
          <p:cNvPr id="30" name="Text 25"/>
          <p:cNvSpPr/>
          <p:nvPr/>
        </p:nvSpPr>
        <p:spPr>
          <a:xfrm>
            <a:off x="5806440" y="2935224"/>
            <a:ext cx="2971800" cy="548640"/>
          </a:xfrm>
          <a:prstGeom prst="rect">
            <a:avLst/>
          </a:prstGeom>
          <a:noFill/>
          <a:ln/>
        </p:spPr>
        <p:txBody>
          <a:bodyPr wrap="square" lIns="0" tIns="0" rIns="0" bIns="0" rtlCol="0" anchor="ctr"/>
          <a:lstStyle/>
          <a:p>
            <a:pPr indent="0" marL="0">
              <a:buNone/>
            </a:pPr>
            <a:r>
              <a:rPr lang="en-US" sz="950" dirty="0">
                <a:solidFill>
                  <a:srgbClr val="94A3B8"/>
                </a:solidFill>
              </a:rPr>
              <a:t>Focal Loss or class-weighted sampling for rare 'threat' class</a:t>
            </a:r>
            <a:endParaRPr lang="en-US" sz="950" dirty="0"/>
          </a:p>
        </p:txBody>
      </p:sp>
      <p:pic>
        <p:nvPicPr>
          <p:cNvPr id="31" name="Image 3" descr="preencoded.png">    </p:cNvPr>
          <p:cNvPicPr>
            <a:picLocks noChangeAspect="1"/>
          </p:cNvPicPr>
          <p:nvPr/>
        </p:nvPicPr>
        <p:blipFill>
          <a:blip r:embed="rId4"/>
          <a:stretch>
            <a:fillRect/>
          </a:stretch>
        </p:blipFill>
        <p:spPr>
          <a:xfrm>
            <a:off x="5806440" y="3666744"/>
            <a:ext cx="347472" cy="347472"/>
          </a:xfrm>
          <a:prstGeom prst="rect">
            <a:avLst/>
          </a:prstGeom>
        </p:spPr>
      </p:pic>
      <p:sp>
        <p:nvSpPr>
          <p:cNvPr id="32" name="Text 26"/>
          <p:cNvSpPr/>
          <p:nvPr/>
        </p:nvSpPr>
        <p:spPr>
          <a:xfrm>
            <a:off x="6236208" y="3666744"/>
            <a:ext cx="2560320" cy="292608"/>
          </a:xfrm>
          <a:prstGeom prst="rect">
            <a:avLst/>
          </a:prstGeom>
          <a:noFill/>
          <a:ln/>
        </p:spPr>
        <p:txBody>
          <a:bodyPr wrap="square" lIns="0" tIns="0" rIns="0" bIns="0" rtlCol="0" anchor="ctr"/>
          <a:lstStyle/>
          <a:p>
            <a:pPr indent="0" marL="0">
              <a:buNone/>
            </a:pPr>
            <a:r>
              <a:rPr lang="en-US" sz="1100" b="1" dirty="0">
                <a:solidFill>
                  <a:srgbClr val="5EEAD4"/>
                </a:solidFill>
              </a:rPr>
              <a:t>Data Augmentation</a:t>
            </a:r>
            <a:endParaRPr lang="en-US" sz="1100" dirty="0"/>
          </a:p>
        </p:txBody>
      </p:sp>
      <p:sp>
        <p:nvSpPr>
          <p:cNvPr id="33" name="Text 27"/>
          <p:cNvSpPr/>
          <p:nvPr/>
        </p:nvSpPr>
        <p:spPr>
          <a:xfrm>
            <a:off x="5806440" y="4014216"/>
            <a:ext cx="2971800" cy="548640"/>
          </a:xfrm>
          <a:prstGeom prst="rect">
            <a:avLst/>
          </a:prstGeom>
          <a:noFill/>
          <a:ln/>
        </p:spPr>
        <p:txBody>
          <a:bodyPr wrap="square" lIns="0" tIns="0" rIns="0" bIns="0" rtlCol="0" anchor="ctr"/>
          <a:lstStyle/>
          <a:p>
            <a:pPr indent="0" marL="0">
              <a:buNone/>
            </a:pPr>
            <a:r>
              <a:rPr lang="en-US" sz="950" dirty="0">
                <a:solidFill>
                  <a:srgbClr val="94A3B8"/>
                </a:solidFill>
              </a:rPr>
              <a:t>Back-translation, synonym replacement to expand minority classes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for Toxic Comment Classification</dc:title>
  <dc:subject>PptxGenJS Presentation</dc:subject>
  <dc:creator>PptxGenJS</dc:creator>
  <cp:lastModifiedBy>PptxGenJS</cp:lastModifiedBy>
  <cp:revision>1</cp:revision>
  <dcterms:created xsi:type="dcterms:W3CDTF">2026-05-22T08:24:46Z</dcterms:created>
  <dcterms:modified xsi:type="dcterms:W3CDTF">2026-05-22T08:24:46Z</dcterms:modified>
</cp:coreProperties>
</file>